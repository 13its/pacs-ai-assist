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gqsYRWyoIon3jHmxQL021Cb88R1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7c3499a486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g37c3499a486_0_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8e26d45c45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g38e26d45c45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8e26d45c4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5" name="Google Shape;215;g38e26d45c45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8e26d45c4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2" name="Google Shape;222;g38e26d45c45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8.png"/><Relationship Id="rId5" Type="http://schemas.openxmlformats.org/officeDocument/2006/relationships/image" Target="../media/image5.jpg"/><Relationship Id="rId6" Type="http://schemas.openxmlformats.org/officeDocument/2006/relationships/image" Target="../media/image3.png"/><Relationship Id="rId7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4.jpg"/><Relationship Id="rId5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5053250" y="5293900"/>
            <a:ext cx="7379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1" title="Imagen de WhatsApp 2025-09-05 a las 19.42.07_a590e4db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97299" y="511323"/>
            <a:ext cx="5835351" cy="583535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2606850" y="5293900"/>
            <a:ext cx="65772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MX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MX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</a:t>
            </a:r>
            <a:r>
              <a:rPr b="0" i="0" lang="es-MX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N°1 CAPSTONE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2" name="Google Shape;9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" name="Google Shape;93;p2"/>
          <p:cNvGrpSpPr/>
          <p:nvPr/>
        </p:nvGrpSpPr>
        <p:grpSpPr>
          <a:xfrm>
            <a:off x="4121026" y="1710800"/>
            <a:ext cx="7633549" cy="4350572"/>
            <a:chOff x="0" y="-19"/>
            <a:chExt cx="7633549" cy="4350572"/>
          </a:xfrm>
        </p:grpSpPr>
        <p:sp>
          <p:nvSpPr>
            <p:cNvPr id="94" name="Google Shape;94;p2"/>
            <p:cNvSpPr/>
            <p:nvPr/>
          </p:nvSpPr>
          <p:spPr>
            <a:xfrm>
              <a:off x="0" y="0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2"/>
            <p:cNvSpPr txBox="1"/>
            <p:nvPr/>
          </p:nvSpPr>
          <p:spPr>
            <a:xfrm>
              <a:off x="1662649" y="-19"/>
              <a:ext cx="59709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b="0" i="0" lang="es-MX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Diego Castañeda Muñoz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MX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Líder</a:t>
              </a:r>
              <a:r>
                <a:rPr lang="es-MX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s-MX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Técnico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225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Char char="•"/>
              </a:pPr>
              <a:r>
                <a:rPr lang="es-MX" sz="19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Desarrollo, backend, </a:t>
              </a:r>
              <a:r>
                <a:rPr lang="es-MX" sz="19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integración</a:t>
              </a:r>
              <a:r>
                <a:rPr lang="es-MX" sz="19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con IA. </a:t>
              </a:r>
              <a:endParaRPr b="0" i="0" sz="1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135954" y="135954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1662653" y="1495502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b="0" i="0" lang="es-MX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Scarlett Socías Araneda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MX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Scrum Master 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MX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Frontend , facilitar el flujo, apoyo en prototipo.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135954" y="1631457"/>
              <a:ext cx="1526698" cy="1087638"/>
            </a:xfrm>
            <a:prstGeom prst="roundRect">
              <a:avLst>
                <a:gd fmla="val 10000" name="adj"/>
              </a:avLst>
            </a:prstGeom>
            <a:blipFill rotWithShape="1">
              <a:blip r:embed="rId4">
                <a:alphaModFix/>
              </a:blip>
              <a:stretch>
                <a:fillRect b="-13997" l="0" r="0" t="-13996"/>
              </a:stretch>
            </a:blip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0" y="2991005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2"/>
            <p:cNvSpPr txBox="1"/>
            <p:nvPr/>
          </p:nvSpPr>
          <p:spPr>
            <a:xfrm>
              <a:off x="1662653" y="2991005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b="0" i="0" lang="es-MX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Millaray Llanquín Hermosilla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MX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Product Owner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MX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Encargada del Jira, organizaciones del backlog.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135954" y="3126960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103;p2"/>
          <p:cNvSpPr txBox="1"/>
          <p:nvPr/>
        </p:nvSpPr>
        <p:spPr>
          <a:xfrm>
            <a:off x="136188" y="368928"/>
            <a:ext cx="1219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" name="Google Shape;105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06" name="Google Shape;10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575" y="4840700"/>
            <a:ext cx="1356676" cy="1054451"/>
          </a:xfrm>
          <a:prstGeom prst="rect">
            <a:avLst/>
          </a:prstGeom>
          <a:solidFill>
            <a:srgbClr val="C3D4EB"/>
          </a:soli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</p:pic>
      <p:pic>
        <p:nvPicPr>
          <p:cNvPr id="107" name="Google Shape;107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56980" y="1836045"/>
            <a:ext cx="1541873" cy="1098366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108" name="Google Shape;108;p2" title="Imagen de WhatsApp 2025-09-05 a las 19.42.07_a590e4db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0425" y="96287"/>
            <a:ext cx="1323474" cy="1323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3" name="Google Shape;113;g37c3499a486_0_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g37c3499a486_0_87"/>
          <p:cNvSpPr txBox="1"/>
          <p:nvPr/>
        </p:nvSpPr>
        <p:spPr>
          <a:xfrm>
            <a:off x="136188" y="368928"/>
            <a:ext cx="1219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7c3499a486_0_87"/>
          <p:cNvSpPr txBox="1"/>
          <p:nvPr/>
        </p:nvSpPr>
        <p:spPr>
          <a:xfrm>
            <a:off x="0" y="1130849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CONTEXTO </a:t>
            </a: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g37c3499a486_0_87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7" name="Google Shape;117;g37c3499a486_0_87"/>
          <p:cNvSpPr/>
          <p:nvPr/>
        </p:nvSpPr>
        <p:spPr>
          <a:xfrm>
            <a:off x="1905000" y="2330200"/>
            <a:ext cx="8722800" cy="43071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2600">
                <a:latin typeface="Calibri"/>
                <a:ea typeface="Calibri"/>
                <a:cs typeface="Calibri"/>
                <a:sym typeface="Calibri"/>
              </a:rPr>
              <a:t>El proyecto PACS-AI Assist surge con el objetivo de apoyar el trabajo de los radiólogos mediante la integración de inteligencia artificial en sistemas PACS (Picture Archiving and Communication System).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2600">
                <a:latin typeface="Calibri"/>
                <a:ea typeface="Calibri"/>
                <a:cs typeface="Calibri"/>
                <a:sym typeface="Calibri"/>
              </a:rPr>
              <a:t>El sistema busca automatizar la detección temprana de nódulos pulmonares en estudios de tomografía computarizada, utilizando un modelo de IA conectado al servidor Orthanc y visualizado a través del OHIF Viewer.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g37c3499a486_0_87" title="Imagen de WhatsApp 2025-09-05 a las 19.42.07_a590e4db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425" y="96287"/>
            <a:ext cx="1323474" cy="1323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3" name="Google Shape;12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3"/>
          <p:cNvSpPr txBox="1"/>
          <p:nvPr/>
        </p:nvSpPr>
        <p:spPr>
          <a:xfrm>
            <a:off x="136188" y="368928"/>
            <a:ext cx="1219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7" name="Google Shape;127;p3"/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MX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los hospitales y centros de salud, los sistemas PACS almacenan grandes volúmenes de imágenes médicas (DICOM), pero los radiólogos suelen enfrentarse a sobrecarga de trabajo y limitaciones de tiempo (turnos rotat</a:t>
            </a: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ivos y cambios de horario)</a:t>
            </a: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Esto dificulta la detección temprana de enfermedades críticas, como el cáncer de pulmón, lo que puede retrasar diagnósticos y afectar la calidad de la atención.</a:t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MX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 asistente inteligente integrado a un PACS simulado (Orthanc), que procese y analice imágenes médicas en formato DICOM mediante un modelo predictivo de IA. La solución permitirá detectar de manera temprana posibles indicios de cáncer pulmonar en tomografías, entregando apoyo al radiólogo, </a:t>
            </a: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reduciendo</a:t>
            </a: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tiempos de análisis y riesgos de error humano.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3" title="Imagen de WhatsApp 2025-09-05 a las 19.42.07_a590e4db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425" y="96287"/>
            <a:ext cx="1323474" cy="1323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5" name="Google Shape;13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4"/>
          <p:cNvSpPr txBox="1"/>
          <p:nvPr/>
        </p:nvSpPr>
        <p:spPr>
          <a:xfrm>
            <a:off x="136188" y="368928"/>
            <a:ext cx="1219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0" y="1419754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" name="Google Shape;138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9" name="Google Shape;139;p4"/>
          <p:cNvSpPr txBox="1"/>
          <p:nvPr/>
        </p:nvSpPr>
        <p:spPr>
          <a:xfrm>
            <a:off x="1" y="3850934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Apoyar  a los radiólogos en la detección temprana de cáncer de pulmón, creando un asistente inteligente que  analice imágenes médicas en DICOM para facilitar diagnósticos más rápidos, precisos y salvar más vidas.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614525" y="4551951"/>
            <a:ext cx="10962900" cy="2228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Apoyar la labor del radiólogo, entregando información que facilite la priorización de casos más críticos.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Contribuir a diagnósticos más oportunos, reduciendo el tiempo entre la toma de imágenes y la interpretación de resultados.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Aumentar la confianza de los pacientes, al reforzar la revisión de los estudios con apoyo de tecnología.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Impulsar la innovación en salud, acercando soluciones digitales al ámbito hospitalario.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Favorecer la calidad de vida de los pacientes, al promover la detección temprana y las oportunidades de tratamiento.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4" title="Imagen de WhatsApp 2025-09-05 a las 19.42.07_a590e4db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425" y="96287"/>
            <a:ext cx="1323474" cy="1323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7" name="Google Shape;14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5"/>
          <p:cNvSpPr txBox="1"/>
          <p:nvPr/>
        </p:nvSpPr>
        <p:spPr>
          <a:xfrm>
            <a:off x="136188" y="368928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 y limitaciones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0" name="Google Shape;150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1" name="Google Shape;151;p5"/>
          <p:cNvSpPr/>
          <p:nvPr/>
        </p:nvSpPr>
        <p:spPr>
          <a:xfrm>
            <a:off x="1019567" y="2280863"/>
            <a:ext cx="4348705" cy="411139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MX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Simulación de un sistema PACS para la gestión de imágenes médicas.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Integración de un modelo de inteligencia artificial para análisis de tomografías pulmonares.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Generación de predicciones que apoyen la detección temprana de cáncer de pulmón.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Interfaz básica para visualizar resultados y facilitar la interpretación por parte de especialistas.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6823728" y="2280865"/>
            <a:ext cx="4348705" cy="411139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MX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sistema se prueba en un entorno simulado, no en un hospital real.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modelo de IA está limitado al análisis de cáncer pulmonar, no a otras patologías.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precisión depende de la calidad y cantidad de datos disponibles.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reemplaza al radiólogo, solo actúa como apoyo en el diagnóstico.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p5" title="Imagen de WhatsApp 2025-09-05 a las 19.42.07_a590e4db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425" y="96287"/>
            <a:ext cx="1323474" cy="1323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8" name="Google Shape;1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6"/>
          <p:cNvSpPr txBox="1"/>
          <p:nvPr/>
        </p:nvSpPr>
        <p:spPr>
          <a:xfrm>
            <a:off x="973900" y="992900"/>
            <a:ext cx="97233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61" name="Google Shape;161;p6" title="Imagen de WhatsApp 2025-09-05 a las 19.42.07_a590e4db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425" y="96287"/>
            <a:ext cx="1323474" cy="1323474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6"/>
          <p:cNvSpPr txBox="1"/>
          <p:nvPr/>
        </p:nvSpPr>
        <p:spPr>
          <a:xfrm>
            <a:off x="6316600" y="3368850"/>
            <a:ext cx="4085700" cy="15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63" name="Google Shape;163;p6"/>
          <p:cNvSpPr txBox="1"/>
          <p:nvPr/>
        </p:nvSpPr>
        <p:spPr>
          <a:xfrm>
            <a:off x="3103325" y="2902900"/>
            <a:ext cx="7593900" cy="19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 sz="1800">
                <a:solidFill>
                  <a:schemeClr val="dk1"/>
                </a:solidFill>
              </a:rPr>
              <a:t>Duración de Sprints:</a:t>
            </a:r>
            <a:r>
              <a:rPr lang="es-MX" sz="1800">
                <a:solidFill>
                  <a:schemeClr val="dk1"/>
                </a:solidFill>
              </a:rPr>
              <a:t> 2 semanas.</a:t>
            </a:r>
            <a:br>
              <a:rPr lang="es-MX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MX" sz="1800">
                <a:solidFill>
                  <a:schemeClr val="dk1"/>
                </a:solidFill>
              </a:rPr>
              <a:t>Sprint 1: </a:t>
            </a:r>
            <a:r>
              <a:rPr lang="es-MX" sz="1800">
                <a:solidFill>
                  <a:schemeClr val="dk1"/>
                </a:solidFill>
              </a:rPr>
              <a:t>Gestión imágenes médicas</a:t>
            </a:r>
            <a:br>
              <a:rPr lang="es-MX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MX" sz="1800">
                <a:solidFill>
                  <a:schemeClr val="dk1"/>
                </a:solidFill>
              </a:rPr>
              <a:t>Sprint 2: </a:t>
            </a:r>
            <a:r>
              <a:rPr lang="es-MX" sz="1800">
                <a:solidFill>
                  <a:srgbClr val="292A2E"/>
                </a:solidFill>
              </a:rPr>
              <a:t>Interfaz de Usuario y Visualización</a:t>
            </a:r>
            <a:endParaRPr sz="1800">
              <a:solidFill>
                <a:srgbClr val="292A2E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MX" sz="1800">
                <a:solidFill>
                  <a:schemeClr val="dk1"/>
                </a:solidFill>
              </a:rPr>
              <a:t>Sprint 3:</a:t>
            </a:r>
            <a:r>
              <a:rPr b="1" lang="es-MX" sz="1800">
                <a:solidFill>
                  <a:srgbClr val="292A2E"/>
                </a:solidFill>
              </a:rPr>
              <a:t> </a:t>
            </a:r>
            <a:r>
              <a:rPr lang="es-MX" sz="1800">
                <a:solidFill>
                  <a:srgbClr val="292A2E"/>
                </a:solidFill>
              </a:rPr>
              <a:t>Procesamiento Inteligente (IA)</a:t>
            </a:r>
            <a:endParaRPr sz="1800">
              <a:solidFill>
                <a:srgbClr val="292A2E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-MX" sz="1800">
                <a:solidFill>
                  <a:schemeClr val="dk1"/>
                </a:solidFill>
              </a:rPr>
              <a:t>Sprint 4: </a:t>
            </a:r>
            <a:r>
              <a:rPr lang="es-MX" sz="1800">
                <a:solidFill>
                  <a:srgbClr val="292A2E"/>
                </a:solidFill>
              </a:rPr>
              <a:t>Gestión y Trazabilidad de Resultados</a:t>
            </a:r>
            <a:endParaRPr sz="1800">
              <a:solidFill>
                <a:srgbClr val="292A2E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292A2E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292A2E"/>
              </a:buClr>
              <a:buSzPts val="1800"/>
              <a:buChar char="●"/>
            </a:pPr>
            <a:r>
              <a:rPr b="1" lang="es-MX" sz="1800">
                <a:solidFill>
                  <a:srgbClr val="292A2E"/>
                </a:solidFill>
              </a:rPr>
              <a:t>Sprint 5:</a:t>
            </a:r>
            <a:r>
              <a:rPr lang="es-MX" sz="1800">
                <a:solidFill>
                  <a:srgbClr val="292A2E"/>
                </a:solidFill>
              </a:rPr>
              <a:t> Seguridad y Anonimización</a:t>
            </a:r>
            <a:endParaRPr sz="1800">
              <a:solidFill>
                <a:srgbClr val="292A2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8e26d45c45_0_43"/>
          <p:cNvSpPr txBox="1"/>
          <p:nvPr/>
        </p:nvSpPr>
        <p:spPr>
          <a:xfrm>
            <a:off x="0" y="2178600"/>
            <a:ext cx="2794500" cy="46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s-MX" sz="2200">
                <a:solidFill>
                  <a:schemeClr val="dk1"/>
                </a:solidFill>
              </a:rPr>
              <a:t>Carga y procesamiento DICOM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s-MX" sz="2200">
                <a:solidFill>
                  <a:schemeClr val="dk1"/>
                </a:solidFill>
              </a:rPr>
              <a:t>Integración con Orthanc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s-MX" sz="2200">
                <a:solidFill>
                  <a:schemeClr val="dk1"/>
                </a:solidFill>
              </a:rPr>
              <a:t>Visualización de detecciones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s-MX" sz="2200">
                <a:solidFill>
                  <a:schemeClr val="dk1"/>
                </a:solidFill>
              </a:rPr>
              <a:t>Interfaz inicial (Front)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EscuelaIT Duoc UC - Escuela de Informática y Telecomunicaciones Duoc UC - Duoc  UC | LinkedIn" id="169" name="Google Shape;169;g38e26d45c45_0_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8e26d45c45_0_43"/>
          <p:cNvSpPr txBox="1"/>
          <p:nvPr/>
        </p:nvSpPr>
        <p:spPr>
          <a:xfrm>
            <a:off x="973900" y="992900"/>
            <a:ext cx="972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Release plan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" name="Google Shape;171;g38e26d45c45_0_43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72" name="Google Shape;172;g38e26d45c45_0_43" title="Imagen de WhatsApp 2025-09-05 a las 19.42.07_a590e4db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425" y="96287"/>
            <a:ext cx="1323474" cy="132347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g38e26d45c45_0_43"/>
          <p:cNvSpPr txBox="1"/>
          <p:nvPr/>
        </p:nvSpPr>
        <p:spPr>
          <a:xfrm>
            <a:off x="3388500" y="2745500"/>
            <a:ext cx="15525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8e26d45c45_0_43"/>
          <p:cNvSpPr txBox="1"/>
          <p:nvPr/>
        </p:nvSpPr>
        <p:spPr>
          <a:xfrm>
            <a:off x="5942200" y="2753100"/>
            <a:ext cx="26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8e26d45c45_0_43"/>
          <p:cNvSpPr txBox="1"/>
          <p:nvPr/>
        </p:nvSpPr>
        <p:spPr>
          <a:xfrm>
            <a:off x="3604575" y="5213275"/>
            <a:ext cx="19509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8e26d45c45_0_43"/>
          <p:cNvSpPr txBox="1"/>
          <p:nvPr/>
        </p:nvSpPr>
        <p:spPr>
          <a:xfrm>
            <a:off x="9592100" y="2713050"/>
            <a:ext cx="19509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" name="Google Shape;177;g38e26d45c45_0_43"/>
          <p:cNvCxnSpPr/>
          <p:nvPr/>
        </p:nvCxnSpPr>
        <p:spPr>
          <a:xfrm>
            <a:off x="3514525" y="2604200"/>
            <a:ext cx="0" cy="343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8" name="Google Shape;178;g38e26d45c45_0_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27250" y="1639400"/>
            <a:ext cx="7925900" cy="502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3" name="Google Shape;18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8"/>
          <p:cNvSpPr txBox="1"/>
          <p:nvPr/>
        </p:nvSpPr>
        <p:spPr>
          <a:xfrm>
            <a:off x="136188" y="368928"/>
            <a:ext cx="1219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5" name="Google Shape;185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6" name="Google Shape;186;p8"/>
          <p:cNvSpPr txBox="1"/>
          <p:nvPr/>
        </p:nvSpPr>
        <p:spPr>
          <a:xfrm>
            <a:off x="8292100" y="4648675"/>
            <a:ext cx="45399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MX" sz="2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Contexto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200" y="107150"/>
            <a:ext cx="8817421" cy="675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2" name="Google Shape;19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9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“NOMBRE DEL PROYECTO”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9"/>
          <p:cNvSpPr txBox="1"/>
          <p:nvPr/>
        </p:nvSpPr>
        <p:spPr>
          <a:xfrm>
            <a:off x="0" y="85420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5" name="Google Shape;195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6" name="Google Shape;196;p9"/>
          <p:cNvSpPr txBox="1"/>
          <p:nvPr/>
        </p:nvSpPr>
        <p:spPr>
          <a:xfrm>
            <a:off x="483225" y="1845850"/>
            <a:ext cx="5912700" cy="40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900">
                <a:solidFill>
                  <a:schemeClr val="dk1"/>
                </a:solidFill>
              </a:rPr>
              <a:t>🧍‍♂️ </a:t>
            </a:r>
            <a:r>
              <a:rPr b="1" lang="es-MX" sz="1900">
                <a:solidFill>
                  <a:schemeClr val="dk1"/>
                </a:solidFill>
              </a:rPr>
              <a:t>Paciente</a:t>
            </a:r>
            <a:r>
              <a:rPr lang="es-MX" sz="1900">
                <a:solidFill>
                  <a:schemeClr val="dk1"/>
                </a:solidFill>
              </a:rPr>
              <a:t> → contiene datos generales (ID, nombre, edad, sexo).</a:t>
            </a:r>
            <a:br>
              <a:rPr lang="es-MX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900">
                <a:solidFill>
                  <a:schemeClr val="dk1"/>
                </a:solidFill>
              </a:rPr>
              <a:t>🩻 </a:t>
            </a:r>
            <a:r>
              <a:rPr b="1" lang="es-MX" sz="1900">
                <a:solidFill>
                  <a:schemeClr val="dk1"/>
                </a:solidFill>
              </a:rPr>
              <a:t>Estudio</a:t>
            </a:r>
            <a:r>
              <a:rPr lang="es-MX" sz="1900">
                <a:solidFill>
                  <a:schemeClr val="dk1"/>
                </a:solidFill>
              </a:rPr>
              <a:t> → representa cada examen DICOM asociado a un paciente.</a:t>
            </a:r>
            <a:br>
              <a:rPr lang="es-MX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900">
                <a:solidFill>
                  <a:schemeClr val="dk1"/>
                </a:solidFill>
              </a:rPr>
              <a:t>📂 </a:t>
            </a:r>
            <a:r>
              <a:rPr b="1" lang="es-MX" sz="1900">
                <a:solidFill>
                  <a:schemeClr val="dk1"/>
                </a:solidFill>
              </a:rPr>
              <a:t>Serie</a:t>
            </a:r>
            <a:r>
              <a:rPr lang="es-MX" sz="1900">
                <a:solidFill>
                  <a:schemeClr val="dk1"/>
                </a:solidFill>
              </a:rPr>
              <a:t> → agrupa las imágenes que pertenecen a un mismo estudio.</a:t>
            </a:r>
            <a:br>
              <a:rPr lang="es-MX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900">
                <a:solidFill>
                  <a:schemeClr val="dk1"/>
                </a:solidFill>
              </a:rPr>
              <a:t>🧩 </a:t>
            </a:r>
            <a:r>
              <a:rPr b="1" lang="es-MX" sz="1900">
                <a:solidFill>
                  <a:schemeClr val="dk1"/>
                </a:solidFill>
              </a:rPr>
              <a:t>Instancia</a:t>
            </a:r>
            <a:r>
              <a:rPr lang="es-MX" sz="1900">
                <a:solidFill>
                  <a:schemeClr val="dk1"/>
                </a:solidFill>
              </a:rPr>
              <a:t> → cada imagen individual dentro de la serie.</a:t>
            </a:r>
            <a:br>
              <a:rPr lang="es-MX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900">
                <a:solidFill>
                  <a:schemeClr val="dk1"/>
                </a:solidFill>
              </a:rPr>
              <a:t>🔬 </a:t>
            </a:r>
            <a:r>
              <a:rPr b="1" lang="es-MX" sz="1900">
                <a:solidFill>
                  <a:schemeClr val="dk1"/>
                </a:solidFill>
              </a:rPr>
              <a:t>Nódulo</a:t>
            </a:r>
            <a:r>
              <a:rPr lang="es-MX" sz="1900">
                <a:solidFill>
                  <a:schemeClr val="dk1"/>
                </a:solidFill>
              </a:rPr>
              <a:t> → resultado detectado por el modelo de IA (posición, tamaño, malignidad).</a:t>
            </a:r>
            <a:br>
              <a:rPr lang="es-MX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 txBox="1"/>
          <p:nvPr/>
        </p:nvSpPr>
        <p:spPr>
          <a:xfrm>
            <a:off x="6650925" y="1845850"/>
            <a:ext cx="5451000" cy="3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900">
                <a:solidFill>
                  <a:schemeClr val="dk1"/>
                </a:solidFill>
              </a:rPr>
              <a:t>🎯 </a:t>
            </a:r>
            <a:r>
              <a:rPr b="1" lang="es-MX" sz="1900">
                <a:solidFill>
                  <a:schemeClr val="dk1"/>
                </a:solidFill>
              </a:rPr>
              <a:t>Segmentación</a:t>
            </a:r>
            <a:r>
              <a:rPr lang="es-MX" sz="1900">
                <a:solidFill>
                  <a:schemeClr val="dk1"/>
                </a:solidFill>
              </a:rPr>
              <a:t> → archivo DICOM SEG asociado al nódulo detectado.</a:t>
            </a:r>
            <a:br>
              <a:rPr lang="es-MX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900">
                <a:solidFill>
                  <a:schemeClr val="dk1"/>
                </a:solidFill>
              </a:rPr>
              <a:t>📏 </a:t>
            </a:r>
            <a:r>
              <a:rPr b="1" lang="es-MX" sz="1900">
                <a:solidFill>
                  <a:schemeClr val="dk1"/>
                </a:solidFill>
              </a:rPr>
              <a:t>Métricas de nódulo</a:t>
            </a:r>
            <a:r>
              <a:rPr lang="es-MX" sz="1900">
                <a:solidFill>
                  <a:schemeClr val="dk1"/>
                </a:solidFill>
              </a:rPr>
              <a:t> → medidas calculadas (diámetro, volumen, densidad).</a:t>
            </a:r>
            <a:br>
              <a:rPr lang="es-MX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900">
                <a:solidFill>
                  <a:schemeClr val="dk1"/>
                </a:solidFill>
              </a:rPr>
              <a:t>🧠 </a:t>
            </a:r>
            <a:r>
              <a:rPr b="1" lang="es-MX" sz="1900">
                <a:solidFill>
                  <a:schemeClr val="dk1"/>
                </a:solidFill>
              </a:rPr>
              <a:t>Job / Tarea de inferencia</a:t>
            </a:r>
            <a:r>
              <a:rPr lang="es-MX" sz="1900">
                <a:solidFill>
                  <a:schemeClr val="dk1"/>
                </a:solidFill>
              </a:rPr>
              <a:t> → registra el proceso de análisis ejecutado por la IA.</a:t>
            </a:r>
            <a:br>
              <a:rPr lang="es-MX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900">
                <a:solidFill>
                  <a:schemeClr val="dk1"/>
                </a:solidFill>
              </a:rPr>
              <a:t>📑 </a:t>
            </a:r>
            <a:r>
              <a:rPr b="1" lang="es-MX" sz="1900">
                <a:solidFill>
                  <a:schemeClr val="dk1"/>
                </a:solidFill>
              </a:rPr>
              <a:t>Reporte / Hallazgo</a:t>
            </a:r>
            <a:r>
              <a:rPr lang="es-MX" sz="1900">
                <a:solidFill>
                  <a:schemeClr val="dk1"/>
                </a:solidFill>
              </a:rPr>
              <a:t> → consolida los resultados para visualización en el panel.</a:t>
            </a:r>
            <a:br>
              <a:rPr lang="es-MX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900">
                <a:solidFill>
                  <a:schemeClr val="dk1"/>
                </a:solidFill>
              </a:rPr>
              <a:t>👤 </a:t>
            </a:r>
            <a:r>
              <a:rPr b="1" lang="es-MX" sz="1900">
                <a:solidFill>
                  <a:schemeClr val="dk1"/>
                </a:solidFill>
              </a:rPr>
              <a:t>Usuario y Roles</a:t>
            </a:r>
            <a:r>
              <a:rPr lang="es-MX" sz="1900">
                <a:solidFill>
                  <a:schemeClr val="dk1"/>
                </a:solidFill>
              </a:rPr>
              <a:t> → control de acceso y permisos (radiólogo, admin).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2" name="Google Shape;20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MX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“PACS-AI Assist”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0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MX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5" name="Google Shape;205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6" name="Google Shape;206;p10"/>
          <p:cNvSpPr/>
          <p:nvPr/>
        </p:nvSpPr>
        <p:spPr>
          <a:xfrm>
            <a:off x="2125575" y="2306050"/>
            <a:ext cx="7720200" cy="391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>
                <a:solidFill>
                  <a:schemeClr val="dk1"/>
                </a:solidFill>
              </a:rPr>
              <a:t>Lenguaje</a:t>
            </a:r>
            <a:r>
              <a:rPr lang="es-MX">
                <a:solidFill>
                  <a:schemeClr val="dk1"/>
                </a:solidFill>
              </a:rPr>
              <a:t>: Python.</a:t>
            </a:r>
            <a:br>
              <a:rPr lang="es-MX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>
                <a:solidFill>
                  <a:schemeClr val="dk1"/>
                </a:solidFill>
              </a:rPr>
              <a:t>Frameworks IA</a:t>
            </a:r>
            <a:r>
              <a:rPr lang="es-MX">
                <a:solidFill>
                  <a:schemeClr val="dk1"/>
                </a:solidFill>
              </a:rPr>
              <a:t>: TensorFlow / Keras.</a:t>
            </a:r>
            <a:br>
              <a:rPr lang="es-MX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>
                <a:solidFill>
                  <a:schemeClr val="dk1"/>
                </a:solidFill>
              </a:rPr>
              <a:t>Procesamiento imágenes</a:t>
            </a:r>
            <a:r>
              <a:rPr lang="es-MX">
                <a:solidFill>
                  <a:schemeClr val="dk1"/>
                </a:solidFill>
              </a:rPr>
              <a:t>: pydicom, SimpleITK, NumPy, OpenCV.</a:t>
            </a:r>
            <a:br>
              <a:rPr lang="es-MX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>
                <a:solidFill>
                  <a:schemeClr val="dk1"/>
                </a:solidFill>
              </a:rPr>
              <a:t>Backend</a:t>
            </a:r>
            <a:r>
              <a:rPr lang="es-MX">
                <a:solidFill>
                  <a:schemeClr val="dk1"/>
                </a:solidFill>
              </a:rPr>
              <a:t>: FastAPI (DICOMweb) + Celery.</a:t>
            </a:r>
            <a:br>
              <a:rPr lang="es-MX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>
                <a:solidFill>
                  <a:schemeClr val="dk1"/>
                </a:solidFill>
              </a:rPr>
              <a:t>Base de Datos</a:t>
            </a:r>
            <a:r>
              <a:rPr lang="es-MX">
                <a:solidFill>
                  <a:schemeClr val="dk1"/>
                </a:solidFill>
              </a:rPr>
              <a:t>: PostgreSQL.</a:t>
            </a:r>
            <a:br>
              <a:rPr lang="es-MX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>
                <a:solidFill>
                  <a:schemeClr val="dk1"/>
                </a:solidFill>
              </a:rPr>
              <a:t>Mensajería</a:t>
            </a:r>
            <a:r>
              <a:rPr lang="es-MX">
                <a:solidFill>
                  <a:schemeClr val="dk1"/>
                </a:solidFill>
              </a:rPr>
              <a:t>: Redis / RabbitMQ.</a:t>
            </a:r>
            <a:br>
              <a:rPr lang="es-MX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>
                <a:solidFill>
                  <a:schemeClr val="dk1"/>
                </a:solidFill>
              </a:rPr>
              <a:t>PACS</a:t>
            </a:r>
            <a:r>
              <a:rPr lang="es-MX">
                <a:solidFill>
                  <a:schemeClr val="dk1"/>
                </a:solidFill>
              </a:rPr>
              <a:t>: Orthanc (simulación DICOM).</a:t>
            </a:r>
            <a:br>
              <a:rPr lang="es-MX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>
                <a:solidFill>
                  <a:schemeClr val="dk1"/>
                </a:solidFill>
              </a:rPr>
              <a:t>Frontend</a:t>
            </a:r>
            <a:r>
              <a:rPr lang="es-MX">
                <a:solidFill>
                  <a:schemeClr val="dk1"/>
                </a:solidFill>
              </a:rPr>
              <a:t>: Streamlit (o prototipo en Figma).</a:t>
            </a:r>
            <a:br>
              <a:rPr lang="es-MX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MX">
                <a:solidFill>
                  <a:schemeClr val="dk1"/>
                </a:solidFill>
              </a:rPr>
              <a:t>Gestión</a:t>
            </a:r>
            <a:r>
              <a:rPr lang="es-MX">
                <a:solidFill>
                  <a:schemeClr val="dk1"/>
                </a:solidFill>
              </a:rPr>
              <a:t>: Jira, GitHub,figma.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1" name="Google Shape;21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1"/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MX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MX" sz="24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*Exposición del sistema</a:t>
            </a:r>
            <a:endParaRPr b="0" i="0" sz="24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7" name="Google Shape;217;g38e26d45c45_0_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g38e26d45c45_0_14"/>
          <p:cNvSpPr txBox="1"/>
          <p:nvPr/>
        </p:nvSpPr>
        <p:spPr>
          <a:xfrm>
            <a:off x="2345150" y="1149475"/>
            <a:ext cx="6200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MX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Retroalimentación</a:t>
            </a:r>
            <a:endParaRPr b="0" i="0" sz="24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8e26d45c45_0_14"/>
          <p:cNvSpPr txBox="1"/>
          <p:nvPr/>
        </p:nvSpPr>
        <p:spPr>
          <a:xfrm>
            <a:off x="2514950" y="2762000"/>
            <a:ext cx="6030600" cy="24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s-MX" sz="2600">
                <a:solidFill>
                  <a:schemeClr val="dk1"/>
                </a:solidFill>
              </a:rPr>
              <a:t>Reorganización del tablero de jira</a:t>
            </a:r>
            <a:endParaRPr sz="2600">
              <a:solidFill>
                <a:schemeClr val="dk1"/>
              </a:solidFill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s-MX" sz="2600">
                <a:solidFill>
                  <a:schemeClr val="dk1"/>
                </a:solidFill>
              </a:rPr>
              <a:t>Limitaciones de tiempo (muy reducido)</a:t>
            </a:r>
            <a:endParaRPr sz="2600">
              <a:solidFill>
                <a:schemeClr val="dk1"/>
              </a:solidFill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s-MX" sz="2600">
                <a:solidFill>
                  <a:schemeClr val="dk1"/>
                </a:solidFill>
              </a:rPr>
              <a:t>Alta complejidad técnica del proyecto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24" name="Google Shape;224;g38e26d45c45_0_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g38e26d45c45_0_19"/>
          <p:cNvSpPr txBox="1"/>
          <p:nvPr/>
        </p:nvSpPr>
        <p:spPr>
          <a:xfrm>
            <a:off x="1" y="2707792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MX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Conclusión</a:t>
            </a:r>
            <a:endParaRPr b="0" i="0" sz="24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