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10287000" cx="18288000"/>
  <p:notesSz cx="6858000" cy="9144000"/>
  <p:embeddedFontLst>
    <p:embeddedFont>
      <p:font typeface="Roboto"/>
      <p:regular r:id="rId23"/>
      <p:bold r:id="rId24"/>
      <p:italic r:id="rId25"/>
      <p:boldItalic r:id="rId26"/>
    </p:embeddedFont>
    <p:embeddedFont>
      <p:font typeface="Open Sans"/>
      <p:bold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9" roundtripDataSignature="AMtx7mjlqCBjowcDXUXfhFXLy/+PlQuE/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Italic.fntdata"/><Relationship Id="rId25" Type="http://schemas.openxmlformats.org/officeDocument/2006/relationships/font" Target="fonts/Roboto-italic.fntdata"/><Relationship Id="rId28" Type="http://schemas.openxmlformats.org/officeDocument/2006/relationships/font" Target="fonts/OpenSans-boldItalic.fntdata"/><Relationship Id="rId27" Type="http://schemas.openxmlformats.org/officeDocument/2006/relationships/font" Target="fonts/OpenSans-bold.fntdata"/><Relationship Id="rId5" Type="http://schemas.openxmlformats.org/officeDocument/2006/relationships/notesMaster" Target="notesMasters/notesMaster1.xml"/><Relationship Id="rId6" Type="http://schemas.openxmlformats.org/officeDocument/2006/relationships/slide" Target="slides/slide1.xml"/><Relationship Id="rId29"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7"/>
          <p:cNvSpPr/>
          <p:nvPr>
            <p:ph idx="2" type="pic"/>
          </p:nvPr>
        </p:nvSpPr>
        <p:spPr>
          <a:xfrm>
            <a:off x="1792288" y="612775"/>
            <a:ext cx="5486400" cy="4114800"/>
          </a:xfrm>
          <a:prstGeom prst="rect">
            <a:avLst/>
          </a:prstGeom>
          <a:noFill/>
          <a:ln>
            <a:noFill/>
          </a:ln>
        </p:spPr>
      </p:sp>
      <p:sp>
        <p:nvSpPr>
          <p:cNvPr id="64" name="Google Shape;64;p2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0.png"/><Relationship Id="rId4" Type="http://schemas.openxmlformats.org/officeDocument/2006/relationships/image" Target="../media/image6.png"/><Relationship Id="rId9"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5.png"/><Relationship Id="rId7" Type="http://schemas.openxmlformats.org/officeDocument/2006/relationships/image" Target="../media/image26.png"/><Relationship Id="rId8"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7.png"/><Relationship Id="rId4" Type="http://schemas.openxmlformats.org/officeDocument/2006/relationships/image" Target="../media/image19.png"/><Relationship Id="rId5" Type="http://schemas.openxmlformats.org/officeDocument/2006/relationships/image" Target="../media/image28.png"/><Relationship Id="rId6" Type="http://schemas.openxmlformats.org/officeDocument/2006/relationships/image" Target="../media/image32.png"/><Relationship Id="rId7"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5.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1.png"/><Relationship Id="rId7"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757"/>
        </a:solidFill>
      </p:bgPr>
    </p:bg>
    <p:spTree>
      <p:nvGrpSpPr>
        <p:cNvPr id="83" name="Shape 83"/>
        <p:cNvGrpSpPr/>
        <p:nvPr/>
      </p:nvGrpSpPr>
      <p:grpSpPr>
        <a:xfrm>
          <a:off x="0" y="0"/>
          <a:ext cx="0" cy="0"/>
          <a:chOff x="0" y="0"/>
          <a:chExt cx="0" cy="0"/>
        </a:xfrm>
      </p:grpSpPr>
      <p:sp>
        <p:nvSpPr>
          <p:cNvPr id="84" name="Google Shape;84;p1"/>
          <p:cNvSpPr/>
          <p:nvPr/>
        </p:nvSpPr>
        <p:spPr>
          <a:xfrm>
            <a:off x="-2234570" y="-1039559"/>
            <a:ext cx="14164199" cy="18885598"/>
          </a:xfrm>
          <a:custGeom>
            <a:rect b="b" l="l" r="r" t="t"/>
            <a:pathLst>
              <a:path extrusionOk="0" h="18885598" w="14164199">
                <a:moveTo>
                  <a:pt x="0" y="0"/>
                </a:moveTo>
                <a:lnTo>
                  <a:pt x="14164199" y="0"/>
                </a:lnTo>
                <a:lnTo>
                  <a:pt x="14164199" y="18885599"/>
                </a:lnTo>
                <a:lnTo>
                  <a:pt x="0" y="18885599"/>
                </a:lnTo>
                <a:lnTo>
                  <a:pt x="0" y="0"/>
                </a:lnTo>
                <a:close/>
              </a:path>
            </a:pathLst>
          </a:custGeom>
          <a:blipFill rotWithShape="1">
            <a:blip r:embed="rId3">
              <a:alphaModFix/>
            </a:blip>
            <a:stretch>
              <a:fillRect b="0" l="0" r="0" t="0"/>
            </a:stretch>
          </a:blipFill>
          <a:ln>
            <a:noFill/>
          </a:ln>
        </p:spPr>
      </p:sp>
      <p:sp>
        <p:nvSpPr>
          <p:cNvPr id="85" name="Google Shape;85;p1"/>
          <p:cNvSpPr txBox="1"/>
          <p:nvPr/>
        </p:nvSpPr>
        <p:spPr>
          <a:xfrm>
            <a:off x="7934120" y="2962946"/>
            <a:ext cx="9828265" cy="1429767"/>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b="1" i="0" lang="en-US" sz="7833" u="none" cap="none" strike="noStrike">
                <a:solidFill>
                  <a:srgbClr val="FFFFFF"/>
                </a:solidFill>
                <a:latin typeface="Arial"/>
                <a:ea typeface="Arial"/>
                <a:cs typeface="Arial"/>
                <a:sym typeface="Arial"/>
              </a:rPr>
              <a:t>PACS-AI ASSIST</a:t>
            </a:r>
            <a:endParaRPr/>
          </a:p>
        </p:txBody>
      </p:sp>
      <p:sp>
        <p:nvSpPr>
          <p:cNvPr id="86" name="Google Shape;86;p1"/>
          <p:cNvSpPr txBox="1"/>
          <p:nvPr/>
        </p:nvSpPr>
        <p:spPr>
          <a:xfrm>
            <a:off x="8202372" y="4511335"/>
            <a:ext cx="9560013" cy="528179"/>
          </a:xfrm>
          <a:prstGeom prst="rect">
            <a:avLst/>
          </a:prstGeom>
          <a:noFill/>
          <a:ln>
            <a:noFill/>
          </a:ln>
        </p:spPr>
        <p:txBody>
          <a:bodyPr anchorCtr="0" anchor="t" bIns="0" lIns="0" spcFirstLastPara="1" rIns="0" wrap="square" tIns="0">
            <a:spAutoFit/>
          </a:bodyPr>
          <a:lstStyle/>
          <a:p>
            <a:pPr indent="0" lvl="0" marL="0" marR="0" rtl="0" algn="l">
              <a:lnSpc>
                <a:spcPct val="139986"/>
              </a:lnSpc>
              <a:spcBef>
                <a:spcPts val="0"/>
              </a:spcBef>
              <a:spcAft>
                <a:spcPts val="0"/>
              </a:spcAft>
              <a:buNone/>
            </a:pPr>
            <a:r>
              <a:rPr b="1" i="0" lang="en-US" sz="2861" u="none" cap="none" strike="noStrike">
                <a:solidFill>
                  <a:srgbClr val="049FD5"/>
                </a:solidFill>
                <a:latin typeface="Arial"/>
                <a:ea typeface="Arial"/>
                <a:cs typeface="Arial"/>
                <a:sym typeface="Arial"/>
              </a:rPr>
              <a:t>PRESENTACIÓN FINAL CAPSTONE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757"/>
        </a:solidFill>
      </p:bgPr>
    </p:bg>
    <p:spTree>
      <p:nvGrpSpPr>
        <p:cNvPr id="90" name="Shape 90"/>
        <p:cNvGrpSpPr/>
        <p:nvPr/>
      </p:nvGrpSpPr>
      <p:grpSpPr>
        <a:xfrm>
          <a:off x="0" y="0"/>
          <a:ext cx="0" cy="0"/>
          <a:chOff x="0" y="0"/>
          <a:chExt cx="0" cy="0"/>
        </a:xfrm>
      </p:grpSpPr>
      <p:sp>
        <p:nvSpPr>
          <p:cNvPr id="91" name="Google Shape;91;p2"/>
          <p:cNvSpPr/>
          <p:nvPr/>
        </p:nvSpPr>
        <p:spPr>
          <a:xfrm>
            <a:off x="6966630" y="3075520"/>
            <a:ext cx="4135960" cy="413596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3">
              <a:alphaModFix/>
            </a:blip>
            <a:stretch>
              <a:fillRect b="-25045" l="0" r="0" t="-25045"/>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
          <p:cNvSpPr/>
          <p:nvPr/>
        </p:nvSpPr>
        <p:spPr>
          <a:xfrm>
            <a:off x="1028700" y="2995387"/>
            <a:ext cx="4296225" cy="4296225"/>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4">
              <a:alphaModFix/>
            </a:blip>
            <a:stretch>
              <a:fillRect b="0" l="-7756" r="-7755"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
          <p:cNvSpPr/>
          <p:nvPr/>
        </p:nvSpPr>
        <p:spPr>
          <a:xfrm>
            <a:off x="13212823" y="3075520"/>
            <a:ext cx="4261883" cy="4261883"/>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5">
              <a:alphaModFix/>
            </a:blip>
            <a:stretch>
              <a:fillRect b="-16732" l="0" r="0" t="-16732"/>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
          <p:cNvSpPr txBox="1"/>
          <p:nvPr/>
        </p:nvSpPr>
        <p:spPr>
          <a:xfrm>
            <a:off x="720436" y="846067"/>
            <a:ext cx="12492300" cy="92280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None/>
            </a:pPr>
            <a:r>
              <a:rPr i="0" lang="en-US" sz="5996" u="none" cap="none" strike="noStrike">
                <a:solidFill>
                  <a:srgbClr val="FFFFFF"/>
                </a:solidFill>
                <a:latin typeface="Roboto"/>
                <a:ea typeface="Roboto"/>
                <a:cs typeface="Roboto"/>
                <a:sym typeface="Roboto"/>
              </a:rPr>
              <a:t>INTEGRANTES DEL PROYECTO</a:t>
            </a:r>
            <a:endParaRPr>
              <a:latin typeface="Roboto"/>
              <a:ea typeface="Roboto"/>
              <a:cs typeface="Roboto"/>
              <a:sym typeface="Roboto"/>
            </a:endParaRPr>
          </a:p>
        </p:txBody>
      </p:sp>
      <p:sp>
        <p:nvSpPr>
          <p:cNvPr id="95" name="Google Shape;95;p2"/>
          <p:cNvSpPr txBox="1"/>
          <p:nvPr/>
        </p:nvSpPr>
        <p:spPr>
          <a:xfrm>
            <a:off x="6520815" y="8552116"/>
            <a:ext cx="5246370" cy="1085931"/>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1" i="0" lang="en-US" sz="5996" u="none" cap="none" strike="noStrike">
                <a:solidFill>
                  <a:srgbClr val="FFFFFF"/>
                </a:solidFill>
                <a:latin typeface="Ultra"/>
                <a:ea typeface="Ultra"/>
                <a:cs typeface="Ultra"/>
                <a:sym typeface="Ultra"/>
              </a:rPr>
              <a:t> </a:t>
            </a:r>
            <a:endParaRPr/>
          </a:p>
        </p:txBody>
      </p:sp>
      <p:sp>
        <p:nvSpPr>
          <p:cNvPr id="96" name="Google Shape;96;p2"/>
          <p:cNvSpPr txBox="1"/>
          <p:nvPr/>
        </p:nvSpPr>
        <p:spPr>
          <a:xfrm>
            <a:off x="1207891" y="7788534"/>
            <a:ext cx="4632235" cy="1210758"/>
          </a:xfrm>
          <a:prstGeom prst="rect">
            <a:avLst/>
          </a:prstGeom>
          <a:noFill/>
          <a:ln>
            <a:noFill/>
          </a:ln>
        </p:spPr>
        <p:txBody>
          <a:bodyPr anchorCtr="0" anchor="t" bIns="0" lIns="0" spcFirstLastPara="1" rIns="0" wrap="square" tIns="0">
            <a:spAutoFit/>
          </a:bodyPr>
          <a:lstStyle/>
          <a:p>
            <a:pPr indent="0" lvl="0" marL="0" marR="0" rtl="0" algn="ctr">
              <a:lnSpc>
                <a:spcPct val="139988"/>
              </a:lnSpc>
              <a:spcBef>
                <a:spcPts val="0"/>
              </a:spcBef>
              <a:spcAft>
                <a:spcPts val="0"/>
              </a:spcAft>
              <a:buNone/>
            </a:pPr>
            <a:r>
              <a:rPr b="1" i="0" lang="en-US" sz="3496" u="none" cap="none" strike="noStrike">
                <a:solidFill>
                  <a:srgbClr val="FFFFFF"/>
                </a:solidFill>
                <a:latin typeface="Open Sans"/>
                <a:ea typeface="Open Sans"/>
                <a:cs typeface="Open Sans"/>
                <a:sym typeface="Open Sans"/>
              </a:rPr>
              <a:t>Diego castañeda</a:t>
            </a:r>
            <a:endParaRPr/>
          </a:p>
          <a:p>
            <a:pPr indent="0" lvl="0" marL="0" marR="0" rtl="0" algn="ctr">
              <a:lnSpc>
                <a:spcPct val="139988"/>
              </a:lnSpc>
              <a:spcBef>
                <a:spcPts val="0"/>
              </a:spcBef>
              <a:spcAft>
                <a:spcPts val="0"/>
              </a:spcAft>
              <a:buNone/>
            </a:pPr>
            <a:r>
              <a:rPr b="1" i="0" lang="en-US" sz="3496" u="none" cap="none" strike="noStrike">
                <a:solidFill>
                  <a:srgbClr val="FFFFFF"/>
                </a:solidFill>
                <a:latin typeface="Open Sans"/>
                <a:ea typeface="Open Sans"/>
                <a:cs typeface="Open Sans"/>
                <a:sym typeface="Open Sans"/>
              </a:rPr>
              <a:t>Lider Técnico</a:t>
            </a:r>
            <a:endParaRPr/>
          </a:p>
        </p:txBody>
      </p:sp>
      <p:sp>
        <p:nvSpPr>
          <p:cNvPr id="97" name="Google Shape;97;p2"/>
          <p:cNvSpPr txBox="1"/>
          <p:nvPr/>
        </p:nvSpPr>
        <p:spPr>
          <a:xfrm>
            <a:off x="7397418" y="7788534"/>
            <a:ext cx="3493163" cy="1210758"/>
          </a:xfrm>
          <a:prstGeom prst="rect">
            <a:avLst/>
          </a:prstGeom>
          <a:noFill/>
          <a:ln>
            <a:noFill/>
          </a:ln>
        </p:spPr>
        <p:txBody>
          <a:bodyPr anchorCtr="0" anchor="t" bIns="0" lIns="0" spcFirstLastPara="1" rIns="0" wrap="square" tIns="0">
            <a:spAutoFit/>
          </a:bodyPr>
          <a:lstStyle/>
          <a:p>
            <a:pPr indent="0" lvl="0" marL="0" marR="0" rtl="0" algn="ctr">
              <a:lnSpc>
                <a:spcPct val="139988"/>
              </a:lnSpc>
              <a:spcBef>
                <a:spcPts val="0"/>
              </a:spcBef>
              <a:spcAft>
                <a:spcPts val="0"/>
              </a:spcAft>
              <a:buNone/>
            </a:pPr>
            <a:r>
              <a:rPr b="1" i="0" lang="en-US" sz="3496" u="none" cap="none" strike="noStrike">
                <a:solidFill>
                  <a:srgbClr val="FFFFFF"/>
                </a:solidFill>
                <a:latin typeface="Open Sans"/>
                <a:ea typeface="Open Sans"/>
                <a:cs typeface="Open Sans"/>
                <a:sym typeface="Open Sans"/>
              </a:rPr>
              <a:t>Scarlett Socías</a:t>
            </a:r>
            <a:endParaRPr/>
          </a:p>
          <a:p>
            <a:pPr indent="0" lvl="0" marL="0" marR="0" rtl="0" algn="ctr">
              <a:lnSpc>
                <a:spcPct val="139988"/>
              </a:lnSpc>
              <a:spcBef>
                <a:spcPts val="0"/>
              </a:spcBef>
              <a:spcAft>
                <a:spcPts val="0"/>
              </a:spcAft>
              <a:buNone/>
            </a:pPr>
            <a:r>
              <a:rPr b="1" i="0" lang="en-US" sz="3496" u="none" cap="none" strike="noStrike">
                <a:solidFill>
                  <a:srgbClr val="FFFFFF"/>
                </a:solidFill>
                <a:latin typeface="Open Sans"/>
                <a:ea typeface="Open Sans"/>
                <a:cs typeface="Open Sans"/>
                <a:sym typeface="Open Sans"/>
              </a:rPr>
              <a:t>Scrum Master </a:t>
            </a:r>
            <a:endParaRPr/>
          </a:p>
        </p:txBody>
      </p:sp>
      <p:sp>
        <p:nvSpPr>
          <p:cNvPr id="98" name="Google Shape;98;p2"/>
          <p:cNvSpPr txBox="1"/>
          <p:nvPr/>
        </p:nvSpPr>
        <p:spPr>
          <a:xfrm>
            <a:off x="13286198" y="7831433"/>
            <a:ext cx="4115133" cy="1115434"/>
          </a:xfrm>
          <a:prstGeom prst="rect">
            <a:avLst/>
          </a:prstGeom>
          <a:noFill/>
          <a:ln>
            <a:noFill/>
          </a:ln>
        </p:spPr>
        <p:txBody>
          <a:bodyPr anchorCtr="0" anchor="t" bIns="0" lIns="0" spcFirstLastPara="1" rIns="0" wrap="square" tIns="0">
            <a:spAutoFit/>
          </a:bodyPr>
          <a:lstStyle/>
          <a:p>
            <a:pPr indent="0" lvl="0" marL="0" marR="0" rtl="0" algn="ctr">
              <a:lnSpc>
                <a:spcPct val="139993"/>
              </a:lnSpc>
              <a:spcBef>
                <a:spcPts val="0"/>
              </a:spcBef>
              <a:spcAft>
                <a:spcPts val="0"/>
              </a:spcAft>
              <a:buNone/>
            </a:pPr>
            <a:r>
              <a:rPr b="1" i="0" lang="en-US" sz="3178" u="none" cap="none" strike="noStrike">
                <a:solidFill>
                  <a:srgbClr val="FFFFFF"/>
                </a:solidFill>
                <a:latin typeface="Open Sans"/>
                <a:ea typeface="Open Sans"/>
                <a:cs typeface="Open Sans"/>
                <a:sym typeface="Open Sans"/>
              </a:rPr>
              <a:t> Millaray Llanquín</a:t>
            </a:r>
            <a:endParaRPr/>
          </a:p>
          <a:p>
            <a:pPr indent="0" lvl="0" marL="0" marR="0" rtl="0" algn="ctr">
              <a:lnSpc>
                <a:spcPct val="139993"/>
              </a:lnSpc>
              <a:spcBef>
                <a:spcPts val="0"/>
              </a:spcBef>
              <a:spcAft>
                <a:spcPts val="0"/>
              </a:spcAft>
              <a:buNone/>
            </a:pPr>
            <a:r>
              <a:rPr b="1" i="0" lang="en-US" sz="3178" u="none" cap="none" strike="noStrike">
                <a:solidFill>
                  <a:srgbClr val="FFFFFF"/>
                </a:solidFill>
                <a:latin typeface="Open Sans"/>
                <a:ea typeface="Open Sans"/>
                <a:cs typeface="Open Sans"/>
                <a:sym typeface="Open Sans"/>
              </a:rPr>
              <a:t>Product owner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757"/>
        </a:solidFill>
      </p:bgPr>
    </p:bg>
    <p:spTree>
      <p:nvGrpSpPr>
        <p:cNvPr id="102" name="Shape 102"/>
        <p:cNvGrpSpPr/>
        <p:nvPr/>
      </p:nvGrpSpPr>
      <p:grpSpPr>
        <a:xfrm>
          <a:off x="0" y="0"/>
          <a:ext cx="0" cy="0"/>
          <a:chOff x="0" y="0"/>
          <a:chExt cx="0" cy="0"/>
        </a:xfrm>
      </p:grpSpPr>
      <p:sp>
        <p:nvSpPr>
          <p:cNvPr id="103" name="Google Shape;103;p3"/>
          <p:cNvSpPr/>
          <p:nvPr/>
        </p:nvSpPr>
        <p:spPr>
          <a:xfrm>
            <a:off x="10351514" y="799330"/>
            <a:ext cx="8700813" cy="10876017"/>
          </a:xfrm>
          <a:custGeom>
            <a:rect b="b" l="l" r="r" t="t"/>
            <a:pathLst>
              <a:path extrusionOk="0" h="10876017" w="8700813">
                <a:moveTo>
                  <a:pt x="0" y="0"/>
                </a:moveTo>
                <a:lnTo>
                  <a:pt x="8700813" y="0"/>
                </a:lnTo>
                <a:lnTo>
                  <a:pt x="8700813" y="10876016"/>
                </a:lnTo>
                <a:lnTo>
                  <a:pt x="0" y="10876016"/>
                </a:lnTo>
                <a:lnTo>
                  <a:pt x="0" y="0"/>
                </a:lnTo>
                <a:close/>
              </a:path>
            </a:pathLst>
          </a:custGeom>
          <a:blipFill rotWithShape="1">
            <a:blip r:embed="rId3">
              <a:alphaModFix/>
            </a:blip>
            <a:stretch>
              <a:fillRect b="0" l="0" r="0" t="0"/>
            </a:stretch>
          </a:blipFill>
          <a:ln>
            <a:noFill/>
          </a:ln>
        </p:spPr>
      </p:sp>
      <p:sp>
        <p:nvSpPr>
          <p:cNvPr id="104" name="Google Shape;104;p3"/>
          <p:cNvSpPr/>
          <p:nvPr/>
        </p:nvSpPr>
        <p:spPr>
          <a:xfrm>
            <a:off x="13076371" y="-331399"/>
            <a:ext cx="5211629" cy="1895138"/>
          </a:xfrm>
          <a:custGeom>
            <a:rect b="b" l="l" r="r" t="t"/>
            <a:pathLst>
              <a:path extrusionOk="0" h="1895138" w="5211629">
                <a:moveTo>
                  <a:pt x="0" y="0"/>
                </a:moveTo>
                <a:lnTo>
                  <a:pt x="5211629" y="0"/>
                </a:lnTo>
                <a:lnTo>
                  <a:pt x="5211629" y="1895137"/>
                </a:lnTo>
                <a:lnTo>
                  <a:pt x="0" y="1895137"/>
                </a:lnTo>
                <a:lnTo>
                  <a:pt x="0" y="0"/>
                </a:lnTo>
                <a:close/>
              </a:path>
            </a:pathLst>
          </a:custGeom>
          <a:blipFill rotWithShape="1">
            <a:blip r:embed="rId4">
              <a:alphaModFix/>
            </a:blip>
            <a:stretch>
              <a:fillRect b="0" l="0" r="0" t="0"/>
            </a:stretch>
          </a:blipFill>
          <a:ln>
            <a:noFill/>
          </a:ln>
        </p:spPr>
      </p:sp>
      <p:sp>
        <p:nvSpPr>
          <p:cNvPr id="105" name="Google Shape;105;p3"/>
          <p:cNvSpPr txBox="1"/>
          <p:nvPr/>
        </p:nvSpPr>
        <p:spPr>
          <a:xfrm>
            <a:off x="720436" y="2868985"/>
            <a:ext cx="10829453" cy="5549154"/>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0" i="0" lang="en-US" sz="3154" u="none" cap="none" strike="noStrike">
                <a:solidFill>
                  <a:srgbClr val="FFFFFF"/>
                </a:solidFill>
                <a:latin typeface="Arial"/>
                <a:ea typeface="Arial"/>
                <a:cs typeface="Arial"/>
                <a:sym typeface="Arial"/>
              </a:rPr>
              <a:t>El proyecto PACS-AI Assist surge con el objetivo de apoyar el trabajo de los radiólogos mediante la integración de inteligencia artificial en sistemas PACS (Picture Archiving and Communication System).</a:t>
            </a:r>
            <a:endParaRPr/>
          </a:p>
          <a:p>
            <a:pPr indent="0" lvl="0" marL="0" marR="0" rtl="0" algn="l">
              <a:lnSpc>
                <a:spcPct val="140012"/>
              </a:lnSpc>
              <a:spcBef>
                <a:spcPts val="0"/>
              </a:spcBef>
              <a:spcAft>
                <a:spcPts val="0"/>
              </a:spcAft>
              <a:buNone/>
            </a:pPr>
            <a:r>
              <a:t/>
            </a:r>
            <a:endParaRPr b="0" i="0" sz="3154" u="none" cap="none" strike="noStrike">
              <a:solidFill>
                <a:srgbClr val="FFFFFF"/>
              </a:solidFill>
              <a:latin typeface="Arial"/>
              <a:ea typeface="Arial"/>
              <a:cs typeface="Arial"/>
              <a:sym typeface="Arial"/>
            </a:endParaRPr>
          </a:p>
          <a:p>
            <a:pPr indent="0" lvl="0" marL="0" marR="0" rtl="0" algn="l">
              <a:lnSpc>
                <a:spcPct val="140012"/>
              </a:lnSpc>
              <a:spcBef>
                <a:spcPts val="0"/>
              </a:spcBef>
              <a:spcAft>
                <a:spcPts val="0"/>
              </a:spcAft>
              <a:buNone/>
            </a:pPr>
            <a:r>
              <a:rPr b="0" i="0" lang="en-US" sz="3154" u="none" cap="none" strike="noStrike">
                <a:solidFill>
                  <a:srgbClr val="FFFFFF"/>
                </a:solidFill>
                <a:latin typeface="Arial"/>
                <a:ea typeface="Arial"/>
                <a:cs typeface="Arial"/>
                <a:sym typeface="Arial"/>
              </a:rPr>
              <a:t>El sistema busca automatizar la detección temprana de nódulos pulmonares en estudios de tomografía computarizada, utilizando un modelo de IA conectado al servidor Orthanc y visualizado a través del OHIF Viewer.</a:t>
            </a:r>
            <a:endParaRPr/>
          </a:p>
          <a:p>
            <a:pPr indent="0" lvl="0" marL="0" marR="0" rtl="0" algn="l">
              <a:lnSpc>
                <a:spcPct val="140012"/>
              </a:lnSpc>
              <a:spcBef>
                <a:spcPts val="0"/>
              </a:spcBef>
              <a:spcAft>
                <a:spcPts val="0"/>
              </a:spcAft>
              <a:buNone/>
            </a:pPr>
            <a:r>
              <a:t/>
            </a:r>
            <a:endParaRPr b="0" i="0" sz="3154" u="none" cap="none" strike="noStrike">
              <a:solidFill>
                <a:srgbClr val="FFFFFF"/>
              </a:solidFill>
              <a:latin typeface="Arial"/>
              <a:ea typeface="Arial"/>
              <a:cs typeface="Arial"/>
              <a:sym typeface="Arial"/>
            </a:endParaRPr>
          </a:p>
        </p:txBody>
      </p:sp>
      <p:sp>
        <p:nvSpPr>
          <p:cNvPr id="106" name="Google Shape;106;p3"/>
          <p:cNvSpPr txBox="1"/>
          <p:nvPr/>
        </p:nvSpPr>
        <p:spPr>
          <a:xfrm>
            <a:off x="720436" y="1205026"/>
            <a:ext cx="10974000" cy="92280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None/>
            </a:pPr>
            <a:r>
              <a:rPr b="1" i="0" lang="en-US" sz="5996" u="none" cap="none" strike="noStrike">
                <a:solidFill>
                  <a:srgbClr val="FFFFFF"/>
                </a:solidFill>
                <a:latin typeface="Roboto"/>
                <a:ea typeface="Roboto"/>
                <a:cs typeface="Roboto"/>
                <a:sym typeface="Roboto"/>
              </a:rPr>
              <a:t>CONTEXTO DEL PROYECTO</a:t>
            </a:r>
            <a:endParaRPr b="1">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757"/>
        </a:solidFill>
      </p:bgPr>
    </p:bg>
    <p:spTree>
      <p:nvGrpSpPr>
        <p:cNvPr id="110" name="Shape 110"/>
        <p:cNvGrpSpPr/>
        <p:nvPr/>
      </p:nvGrpSpPr>
      <p:grpSpPr>
        <a:xfrm>
          <a:off x="0" y="0"/>
          <a:ext cx="0" cy="0"/>
          <a:chOff x="0" y="0"/>
          <a:chExt cx="0" cy="0"/>
        </a:xfrm>
      </p:grpSpPr>
      <p:sp>
        <p:nvSpPr>
          <p:cNvPr id="111" name="Google Shape;111;p4"/>
          <p:cNvSpPr/>
          <p:nvPr/>
        </p:nvSpPr>
        <p:spPr>
          <a:xfrm>
            <a:off x="7469117" y="4198721"/>
            <a:ext cx="1264491" cy="1264491"/>
          </a:xfrm>
          <a:custGeom>
            <a:rect b="b" l="l" r="r" t="t"/>
            <a:pathLst>
              <a:path extrusionOk="0" h="1264491" w="1264491">
                <a:moveTo>
                  <a:pt x="0" y="0"/>
                </a:moveTo>
                <a:lnTo>
                  <a:pt x="1264492" y="0"/>
                </a:lnTo>
                <a:lnTo>
                  <a:pt x="1264492" y="1264491"/>
                </a:lnTo>
                <a:lnTo>
                  <a:pt x="0" y="1264491"/>
                </a:lnTo>
                <a:lnTo>
                  <a:pt x="0" y="0"/>
                </a:lnTo>
                <a:close/>
              </a:path>
            </a:pathLst>
          </a:custGeom>
          <a:blipFill rotWithShape="1">
            <a:blip r:embed="rId3">
              <a:alphaModFix/>
            </a:blip>
            <a:stretch>
              <a:fillRect b="0" l="0" r="0" t="0"/>
            </a:stretch>
          </a:blipFill>
          <a:ln>
            <a:noFill/>
          </a:ln>
        </p:spPr>
      </p:sp>
      <p:grpSp>
        <p:nvGrpSpPr>
          <p:cNvPr id="112" name="Google Shape;112;p4"/>
          <p:cNvGrpSpPr/>
          <p:nvPr/>
        </p:nvGrpSpPr>
        <p:grpSpPr>
          <a:xfrm rot="5400000">
            <a:off x="6251348" y="5968472"/>
            <a:ext cx="6611939" cy="826634"/>
            <a:chOff x="0" y="0"/>
            <a:chExt cx="1523739" cy="190500"/>
          </a:xfrm>
        </p:grpSpPr>
        <p:sp>
          <p:nvSpPr>
            <p:cNvPr id="113" name="Google Shape;113;p4"/>
            <p:cNvSpPr/>
            <p:nvPr/>
          </p:nvSpPr>
          <p:spPr>
            <a:xfrm>
              <a:off x="0" y="0"/>
              <a:ext cx="1523739" cy="190500"/>
            </a:xfrm>
            <a:custGeom>
              <a:rect b="b" l="l" r="r" t="t"/>
              <a:pathLst>
                <a:path extrusionOk="0" h="190500" w="1523739">
                  <a:moveTo>
                    <a:pt x="1523739" y="0"/>
                  </a:moveTo>
                  <a:lnTo>
                    <a:pt x="1523739" y="142894"/>
                  </a:lnTo>
                  <a:cubicBezTo>
                    <a:pt x="1396760" y="142894"/>
                    <a:pt x="1396760" y="190500"/>
                    <a:pt x="1269783" y="190500"/>
                  </a:cubicBezTo>
                  <a:cubicBezTo>
                    <a:pt x="1142763" y="190500"/>
                    <a:pt x="1142763" y="142894"/>
                    <a:pt x="1015787" y="142894"/>
                  </a:cubicBezTo>
                  <a:cubicBezTo>
                    <a:pt x="888808" y="142894"/>
                    <a:pt x="888808" y="190500"/>
                    <a:pt x="761829" y="190500"/>
                  </a:cubicBezTo>
                  <a:cubicBezTo>
                    <a:pt x="634852" y="190500"/>
                    <a:pt x="634852" y="142894"/>
                    <a:pt x="507873" y="142894"/>
                  </a:cubicBezTo>
                  <a:cubicBezTo>
                    <a:pt x="380894" y="142894"/>
                    <a:pt x="380894" y="190500"/>
                    <a:pt x="253956" y="190500"/>
                  </a:cubicBezTo>
                  <a:cubicBezTo>
                    <a:pt x="126978" y="190500"/>
                    <a:pt x="126978" y="142894"/>
                    <a:pt x="0" y="142894"/>
                  </a:cubicBezTo>
                  <a:lnTo>
                    <a:pt x="0" y="0"/>
                  </a:lnTo>
                  <a:cubicBezTo>
                    <a:pt x="126978" y="0"/>
                    <a:pt x="126978" y="47606"/>
                    <a:pt x="253956" y="47606"/>
                  </a:cubicBezTo>
                  <a:cubicBezTo>
                    <a:pt x="380894" y="47606"/>
                    <a:pt x="380894" y="0"/>
                    <a:pt x="507873" y="0"/>
                  </a:cubicBezTo>
                  <a:cubicBezTo>
                    <a:pt x="634852" y="0"/>
                    <a:pt x="634852" y="47606"/>
                    <a:pt x="761829" y="47606"/>
                  </a:cubicBezTo>
                  <a:cubicBezTo>
                    <a:pt x="888808" y="47606"/>
                    <a:pt x="888808" y="0"/>
                    <a:pt x="1015787" y="0"/>
                  </a:cubicBezTo>
                  <a:cubicBezTo>
                    <a:pt x="1142763" y="0"/>
                    <a:pt x="1142763" y="47606"/>
                    <a:pt x="1269783" y="47606"/>
                  </a:cubicBezTo>
                  <a:cubicBezTo>
                    <a:pt x="1396760" y="47606"/>
                    <a:pt x="1396760" y="0"/>
                    <a:pt x="152373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
            <p:cNvSpPr txBox="1"/>
            <p:nvPr/>
          </p:nvSpPr>
          <p:spPr>
            <a:xfrm>
              <a:off x="0" y="12700"/>
              <a:ext cx="1523739" cy="127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5" name="Google Shape;115;p4"/>
          <p:cNvSpPr/>
          <p:nvPr/>
        </p:nvSpPr>
        <p:spPr>
          <a:xfrm>
            <a:off x="15085267" y="1914887"/>
            <a:ext cx="1481050" cy="1814204"/>
          </a:xfrm>
          <a:custGeom>
            <a:rect b="b" l="l" r="r" t="t"/>
            <a:pathLst>
              <a:path extrusionOk="0" h="1814204" w="1481050">
                <a:moveTo>
                  <a:pt x="0" y="0"/>
                </a:moveTo>
                <a:lnTo>
                  <a:pt x="1481050" y="0"/>
                </a:lnTo>
                <a:lnTo>
                  <a:pt x="1481050" y="1814203"/>
                </a:lnTo>
                <a:lnTo>
                  <a:pt x="0" y="1814203"/>
                </a:lnTo>
                <a:lnTo>
                  <a:pt x="0" y="0"/>
                </a:lnTo>
                <a:close/>
              </a:path>
            </a:pathLst>
          </a:custGeom>
          <a:blipFill rotWithShape="1">
            <a:blip r:embed="rId4">
              <a:alphaModFix/>
            </a:blip>
            <a:stretch>
              <a:fillRect b="0" l="0" r="0" t="0"/>
            </a:stretch>
          </a:blipFill>
          <a:ln>
            <a:noFill/>
          </a:ln>
        </p:spPr>
      </p:sp>
      <p:sp>
        <p:nvSpPr>
          <p:cNvPr id="116" name="Google Shape;116;p4"/>
          <p:cNvSpPr txBox="1"/>
          <p:nvPr/>
        </p:nvSpPr>
        <p:spPr>
          <a:xfrm>
            <a:off x="880702" y="2726738"/>
            <a:ext cx="7220661" cy="6961019"/>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0" i="0" lang="en-US" sz="2829" u="none" cap="none" strike="noStrike">
                <a:solidFill>
                  <a:srgbClr val="FFFFFF"/>
                </a:solidFill>
                <a:latin typeface="Arial"/>
                <a:ea typeface="Arial"/>
                <a:cs typeface="Arial"/>
                <a:sym typeface="Arial"/>
              </a:rPr>
              <a:t>Problema o dolor</a:t>
            </a:r>
            <a:endParaRPr/>
          </a:p>
          <a:p>
            <a:pPr indent="0" lvl="0" marL="0" marR="0" rtl="0" algn="l">
              <a:lnSpc>
                <a:spcPct val="140014"/>
              </a:lnSpc>
              <a:spcBef>
                <a:spcPts val="0"/>
              </a:spcBef>
              <a:spcAft>
                <a:spcPts val="0"/>
              </a:spcAft>
              <a:buNone/>
            </a:pPr>
            <a:r>
              <a:t/>
            </a:r>
            <a:endParaRPr b="0" i="0" sz="2829" u="none" cap="none" strike="noStrike">
              <a:solidFill>
                <a:srgbClr val="FFFFFF"/>
              </a:solidFill>
              <a:latin typeface="Arial"/>
              <a:ea typeface="Arial"/>
              <a:cs typeface="Arial"/>
              <a:sym typeface="Arial"/>
            </a:endParaRPr>
          </a:p>
          <a:p>
            <a:pPr indent="0" lvl="0" marL="0" marR="0" rtl="0" algn="l">
              <a:lnSpc>
                <a:spcPct val="140014"/>
              </a:lnSpc>
              <a:spcBef>
                <a:spcPts val="0"/>
              </a:spcBef>
              <a:spcAft>
                <a:spcPts val="0"/>
              </a:spcAft>
              <a:buNone/>
            </a:pPr>
            <a:r>
              <a:rPr b="0" i="0" lang="en-US" sz="2829" u="none" cap="none" strike="noStrike">
                <a:solidFill>
                  <a:srgbClr val="FFFFFF"/>
                </a:solidFill>
                <a:latin typeface="Arial"/>
                <a:ea typeface="Arial"/>
                <a:cs typeface="Arial"/>
                <a:sym typeface="Arial"/>
              </a:rPr>
              <a:t>En los hospitales y centros de salud, los sistemas PACS almacenan grandes volúmenes de imágenes médicas (DICOM), pero los radiólogos suelen enfrentarse a sobrecarga de trabajo y limitaciones de tiempo (turnos rotativos y cambios de horario). Esto dificulta la detección temprana de enfermedades críticas, como el cáncer de pulmón, lo que puede retrasar diagnósticos y afectar la calidad de la atención.</a:t>
            </a:r>
            <a:endParaRPr/>
          </a:p>
          <a:p>
            <a:pPr indent="0" lvl="0" marL="0" marR="0" rtl="0" algn="l">
              <a:lnSpc>
                <a:spcPct val="140014"/>
              </a:lnSpc>
              <a:spcBef>
                <a:spcPts val="0"/>
              </a:spcBef>
              <a:spcAft>
                <a:spcPts val="0"/>
              </a:spcAft>
              <a:buNone/>
            </a:pPr>
            <a:r>
              <a:t/>
            </a:r>
            <a:endParaRPr b="0" i="0" sz="2829" u="none" cap="none" strike="noStrike">
              <a:solidFill>
                <a:srgbClr val="FFFFFF"/>
              </a:solidFill>
              <a:latin typeface="Arial"/>
              <a:ea typeface="Arial"/>
              <a:cs typeface="Arial"/>
              <a:sym typeface="Arial"/>
            </a:endParaRPr>
          </a:p>
        </p:txBody>
      </p:sp>
      <p:sp>
        <p:nvSpPr>
          <p:cNvPr id="117" name="Google Shape;117;p4"/>
          <p:cNvSpPr txBox="1"/>
          <p:nvPr/>
        </p:nvSpPr>
        <p:spPr>
          <a:xfrm>
            <a:off x="720436" y="1205026"/>
            <a:ext cx="12375900" cy="221520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None/>
            </a:pPr>
            <a:r>
              <a:rPr b="1" i="0" lang="en-US" sz="5996" u="none" cap="none" strike="noStrike">
                <a:solidFill>
                  <a:srgbClr val="FFFFFF"/>
                </a:solidFill>
                <a:latin typeface="Roboto"/>
                <a:ea typeface="Roboto"/>
                <a:cs typeface="Roboto"/>
                <a:sym typeface="Roboto"/>
              </a:rPr>
              <a:t>DESCRIPCIÓN DEL PROYECTO</a:t>
            </a:r>
            <a:endParaRPr b="1">
              <a:latin typeface="Roboto"/>
              <a:ea typeface="Roboto"/>
              <a:cs typeface="Roboto"/>
              <a:sym typeface="Roboto"/>
            </a:endParaRPr>
          </a:p>
          <a:p>
            <a:pPr indent="0" lvl="0" marL="0" marR="0" rtl="0" algn="l">
              <a:lnSpc>
                <a:spcPct val="140010"/>
              </a:lnSpc>
              <a:spcBef>
                <a:spcPts val="0"/>
              </a:spcBef>
              <a:spcAft>
                <a:spcPts val="0"/>
              </a:spcAft>
              <a:buNone/>
            </a:pPr>
            <a:r>
              <a:t/>
            </a:r>
            <a:endParaRPr b="1" i="0" sz="5996" u="none" cap="none" strike="noStrike">
              <a:solidFill>
                <a:srgbClr val="FFFFFF"/>
              </a:solidFill>
              <a:latin typeface="Ultra"/>
              <a:ea typeface="Ultra"/>
              <a:cs typeface="Ultra"/>
              <a:sym typeface="Ultra"/>
            </a:endParaRPr>
          </a:p>
        </p:txBody>
      </p:sp>
      <p:sp>
        <p:nvSpPr>
          <p:cNvPr id="118" name="Google Shape;118;p4"/>
          <p:cNvSpPr txBox="1"/>
          <p:nvPr/>
        </p:nvSpPr>
        <p:spPr>
          <a:xfrm>
            <a:off x="10786396" y="2974511"/>
            <a:ext cx="7220661" cy="6465474"/>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0" i="0" lang="en-US" sz="2829" u="none" cap="none" strike="noStrike">
                <a:solidFill>
                  <a:srgbClr val="FFFFFF"/>
                </a:solidFill>
                <a:latin typeface="Arial"/>
                <a:ea typeface="Arial"/>
                <a:cs typeface="Arial"/>
                <a:sym typeface="Arial"/>
              </a:rPr>
              <a:t>Propuesta de solución</a:t>
            </a:r>
            <a:endParaRPr/>
          </a:p>
          <a:p>
            <a:pPr indent="0" lvl="0" marL="0" marR="0" rtl="0" algn="l">
              <a:lnSpc>
                <a:spcPct val="140014"/>
              </a:lnSpc>
              <a:spcBef>
                <a:spcPts val="0"/>
              </a:spcBef>
              <a:spcAft>
                <a:spcPts val="0"/>
              </a:spcAft>
              <a:buNone/>
            </a:pPr>
            <a:r>
              <a:t/>
            </a:r>
            <a:endParaRPr b="0" i="0" sz="2829" u="none" cap="none" strike="noStrike">
              <a:solidFill>
                <a:srgbClr val="FFFFFF"/>
              </a:solidFill>
              <a:latin typeface="Arial"/>
              <a:ea typeface="Arial"/>
              <a:cs typeface="Arial"/>
              <a:sym typeface="Arial"/>
            </a:endParaRPr>
          </a:p>
          <a:p>
            <a:pPr indent="0" lvl="0" marL="0" marR="0" rtl="0" algn="l">
              <a:lnSpc>
                <a:spcPct val="140014"/>
              </a:lnSpc>
              <a:spcBef>
                <a:spcPts val="0"/>
              </a:spcBef>
              <a:spcAft>
                <a:spcPts val="0"/>
              </a:spcAft>
              <a:buNone/>
            </a:pPr>
            <a:r>
              <a:rPr b="0" i="0" lang="en-US" sz="2829" u="none" cap="none" strike="noStrike">
                <a:solidFill>
                  <a:srgbClr val="FFFFFF"/>
                </a:solidFill>
                <a:latin typeface="Arial"/>
                <a:ea typeface="Arial"/>
                <a:cs typeface="Arial"/>
                <a:sym typeface="Arial"/>
              </a:rPr>
              <a:t>Desarrollar un asistente inteligente integrado a un PACS simulado (Orthanc), que procese y analice imágenes médicas en formato DICOM mediante un modelo predictivo de IA. La solución permitirá detectar de manera temprana posibles indicios de cáncer pulmonar en tomografías, entregando apoyo al radiólogo, reduciendo tiempos de análisis y riesgos de error humano.</a:t>
            </a:r>
            <a:endParaRPr/>
          </a:p>
          <a:p>
            <a:pPr indent="0" lvl="0" marL="0" marR="0" rtl="0" algn="l">
              <a:lnSpc>
                <a:spcPct val="140014"/>
              </a:lnSpc>
              <a:spcBef>
                <a:spcPts val="0"/>
              </a:spcBef>
              <a:spcAft>
                <a:spcPts val="0"/>
              </a:spcAft>
              <a:buNone/>
            </a:pPr>
            <a:r>
              <a:t/>
            </a:r>
            <a:endParaRPr b="0" i="0" sz="2829" u="none" cap="none" strike="noStrike">
              <a:solidFill>
                <a:srgbClr val="FFFFFF"/>
              </a:solidFill>
              <a:latin typeface="Arial"/>
              <a:ea typeface="Arial"/>
              <a:cs typeface="Arial"/>
              <a:sym typeface="Arial"/>
            </a:endParaRPr>
          </a:p>
        </p:txBody>
      </p:sp>
      <p:sp>
        <p:nvSpPr>
          <p:cNvPr id="119" name="Google Shape;119;p4"/>
          <p:cNvSpPr/>
          <p:nvPr/>
        </p:nvSpPr>
        <p:spPr>
          <a:xfrm>
            <a:off x="13228771" y="-178999"/>
            <a:ext cx="5211629" cy="1895138"/>
          </a:xfrm>
          <a:custGeom>
            <a:rect b="b" l="l" r="r" t="t"/>
            <a:pathLst>
              <a:path extrusionOk="0" h="1895138" w="5211629">
                <a:moveTo>
                  <a:pt x="0" y="0"/>
                </a:moveTo>
                <a:lnTo>
                  <a:pt x="5211629" y="0"/>
                </a:lnTo>
                <a:lnTo>
                  <a:pt x="5211629" y="1895137"/>
                </a:lnTo>
                <a:lnTo>
                  <a:pt x="0" y="1895137"/>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757"/>
        </a:solidFill>
      </p:bgPr>
    </p:bg>
    <p:spTree>
      <p:nvGrpSpPr>
        <p:cNvPr id="123" name="Shape 123"/>
        <p:cNvGrpSpPr/>
        <p:nvPr/>
      </p:nvGrpSpPr>
      <p:grpSpPr>
        <a:xfrm>
          <a:off x="0" y="0"/>
          <a:ext cx="0" cy="0"/>
          <a:chOff x="0" y="0"/>
          <a:chExt cx="0" cy="0"/>
        </a:xfrm>
      </p:grpSpPr>
      <p:sp>
        <p:nvSpPr>
          <p:cNvPr id="124" name="Google Shape;124;p5"/>
          <p:cNvSpPr/>
          <p:nvPr/>
        </p:nvSpPr>
        <p:spPr>
          <a:xfrm>
            <a:off x="10058400" y="0"/>
            <a:ext cx="8229600" cy="10287000"/>
          </a:xfrm>
          <a:custGeom>
            <a:rect b="b" l="l" r="r" t="t"/>
            <a:pathLst>
              <a:path extrusionOk="0" h="10287000" w="8229600">
                <a:moveTo>
                  <a:pt x="0" y="0"/>
                </a:moveTo>
                <a:lnTo>
                  <a:pt x="8229600" y="0"/>
                </a:lnTo>
                <a:lnTo>
                  <a:pt x="8229600" y="10287000"/>
                </a:lnTo>
                <a:lnTo>
                  <a:pt x="0" y="10287000"/>
                </a:lnTo>
                <a:lnTo>
                  <a:pt x="0" y="0"/>
                </a:lnTo>
                <a:close/>
              </a:path>
            </a:pathLst>
          </a:custGeom>
          <a:blipFill rotWithShape="1">
            <a:blip r:embed="rId3">
              <a:alphaModFix/>
            </a:blip>
            <a:stretch>
              <a:fillRect b="0" l="0" r="0" t="0"/>
            </a:stretch>
          </a:blipFill>
          <a:ln>
            <a:noFill/>
          </a:ln>
        </p:spPr>
      </p:sp>
      <p:sp>
        <p:nvSpPr>
          <p:cNvPr id="125" name="Google Shape;125;p5"/>
          <p:cNvSpPr txBox="1"/>
          <p:nvPr/>
        </p:nvSpPr>
        <p:spPr>
          <a:xfrm>
            <a:off x="720436" y="3709146"/>
            <a:ext cx="7935666" cy="442256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0" i="0" lang="en-US" sz="3596" u="none" cap="none" strike="noStrike">
                <a:solidFill>
                  <a:srgbClr val="FFFFFF"/>
                </a:solidFill>
                <a:latin typeface="Arial"/>
                <a:ea typeface="Arial"/>
                <a:cs typeface="Arial"/>
                <a:sym typeface="Arial"/>
              </a:rPr>
              <a:t>Apoyar a los radiólogos en la detección temprana de cáncer de pulmón, creando un asistente inteligente que analice imágenes médicas en DICOM para facilitar diagnósticos más rápidos, precisos y salvar más vidas.</a:t>
            </a:r>
            <a:endParaRPr/>
          </a:p>
        </p:txBody>
      </p:sp>
      <p:sp>
        <p:nvSpPr>
          <p:cNvPr id="126" name="Google Shape;126;p5"/>
          <p:cNvSpPr txBox="1"/>
          <p:nvPr/>
        </p:nvSpPr>
        <p:spPr>
          <a:xfrm>
            <a:off x="344636" y="1382825"/>
            <a:ext cx="9616500" cy="2585700"/>
          </a:xfrm>
          <a:prstGeom prst="rect">
            <a:avLst/>
          </a:prstGeom>
          <a:noFill/>
          <a:ln>
            <a:noFill/>
          </a:ln>
        </p:spPr>
        <p:txBody>
          <a:bodyPr anchorCtr="0" anchor="t" bIns="0" lIns="0" spcFirstLastPara="1" rIns="0" wrap="square" tIns="0">
            <a:spAutoFit/>
          </a:bodyPr>
          <a:lstStyle/>
          <a:p>
            <a:pPr indent="0" lvl="0" marL="0" marR="0" rtl="0" algn="l">
              <a:lnSpc>
                <a:spcPct val="140005"/>
              </a:lnSpc>
              <a:spcBef>
                <a:spcPts val="0"/>
              </a:spcBef>
              <a:spcAft>
                <a:spcPts val="0"/>
              </a:spcAft>
              <a:buNone/>
            </a:pPr>
            <a:r>
              <a:rPr b="1" i="0" lang="en-US" sz="6999" u="none" cap="none" strike="noStrike">
                <a:solidFill>
                  <a:srgbClr val="FFFFFF"/>
                </a:solidFill>
                <a:latin typeface="Roboto"/>
                <a:ea typeface="Roboto"/>
                <a:cs typeface="Roboto"/>
                <a:sym typeface="Roboto"/>
              </a:rPr>
              <a:t>OBJETIVO GENERAL</a:t>
            </a:r>
            <a:endParaRPr b="1">
              <a:latin typeface="Roboto"/>
              <a:ea typeface="Roboto"/>
              <a:cs typeface="Roboto"/>
              <a:sym typeface="Roboto"/>
            </a:endParaRPr>
          </a:p>
          <a:p>
            <a:pPr indent="0" lvl="0" marL="0" marR="0" rtl="0" algn="l">
              <a:lnSpc>
                <a:spcPct val="140005"/>
              </a:lnSpc>
              <a:spcBef>
                <a:spcPts val="0"/>
              </a:spcBef>
              <a:spcAft>
                <a:spcPts val="0"/>
              </a:spcAft>
              <a:buNone/>
            </a:pPr>
            <a:r>
              <a:t/>
            </a:r>
            <a:endParaRPr b="1" i="0" sz="6999" u="none" cap="none" strike="noStrike">
              <a:solidFill>
                <a:srgbClr val="FFFFFF"/>
              </a:solidFill>
              <a:latin typeface="Ultra"/>
              <a:ea typeface="Ultra"/>
              <a:cs typeface="Ultra"/>
              <a:sym typeface="Ultr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757"/>
        </a:solidFill>
      </p:bgPr>
    </p:bg>
    <p:spTree>
      <p:nvGrpSpPr>
        <p:cNvPr id="130" name="Shape 130"/>
        <p:cNvGrpSpPr/>
        <p:nvPr/>
      </p:nvGrpSpPr>
      <p:grpSpPr>
        <a:xfrm>
          <a:off x="0" y="0"/>
          <a:ext cx="0" cy="0"/>
          <a:chOff x="0" y="0"/>
          <a:chExt cx="0" cy="0"/>
        </a:xfrm>
      </p:grpSpPr>
      <p:sp>
        <p:nvSpPr>
          <p:cNvPr id="131" name="Google Shape;131;p6"/>
          <p:cNvSpPr txBox="1"/>
          <p:nvPr/>
        </p:nvSpPr>
        <p:spPr>
          <a:xfrm>
            <a:off x="426490" y="539774"/>
            <a:ext cx="11115000" cy="960000"/>
          </a:xfrm>
          <a:prstGeom prst="rect">
            <a:avLst/>
          </a:prstGeom>
          <a:noFill/>
          <a:ln>
            <a:noFill/>
          </a:ln>
        </p:spPr>
        <p:txBody>
          <a:bodyPr anchorCtr="0" anchor="t" bIns="0" lIns="0" spcFirstLastPara="1" rIns="0" wrap="square" tIns="0">
            <a:spAutoFit/>
          </a:bodyPr>
          <a:lstStyle/>
          <a:p>
            <a:pPr indent="0" lvl="0" marL="0" marR="0" rtl="0" algn="l">
              <a:lnSpc>
                <a:spcPct val="140009"/>
              </a:lnSpc>
              <a:spcBef>
                <a:spcPts val="0"/>
              </a:spcBef>
              <a:spcAft>
                <a:spcPts val="0"/>
              </a:spcAft>
              <a:buNone/>
            </a:pPr>
            <a:r>
              <a:rPr b="1" i="0" lang="en-US" sz="6236" u="none" cap="none" strike="noStrike">
                <a:solidFill>
                  <a:srgbClr val="FFFFFF"/>
                </a:solidFill>
                <a:latin typeface="Roboto"/>
                <a:ea typeface="Roboto"/>
                <a:cs typeface="Roboto"/>
                <a:sym typeface="Roboto"/>
              </a:rPr>
              <a:t>OBJETIVOS ESPECÍFICOS</a:t>
            </a:r>
            <a:endParaRPr b="1">
              <a:latin typeface="Roboto"/>
              <a:ea typeface="Roboto"/>
              <a:cs typeface="Roboto"/>
              <a:sym typeface="Roboto"/>
            </a:endParaRPr>
          </a:p>
        </p:txBody>
      </p:sp>
      <p:sp>
        <p:nvSpPr>
          <p:cNvPr id="132" name="Google Shape;132;p6"/>
          <p:cNvSpPr/>
          <p:nvPr/>
        </p:nvSpPr>
        <p:spPr>
          <a:xfrm flipH="1">
            <a:off x="11808860" y="-1377455"/>
            <a:ext cx="9197608" cy="12263477"/>
          </a:xfrm>
          <a:custGeom>
            <a:rect b="b" l="l" r="r" t="t"/>
            <a:pathLst>
              <a:path extrusionOk="0" h="12263477" w="9197608">
                <a:moveTo>
                  <a:pt x="9197607" y="0"/>
                </a:moveTo>
                <a:lnTo>
                  <a:pt x="0" y="0"/>
                </a:lnTo>
                <a:lnTo>
                  <a:pt x="0" y="12263478"/>
                </a:lnTo>
                <a:lnTo>
                  <a:pt x="9197607" y="12263478"/>
                </a:lnTo>
                <a:lnTo>
                  <a:pt x="9197607" y="0"/>
                </a:lnTo>
                <a:close/>
              </a:path>
            </a:pathLst>
          </a:custGeom>
          <a:blipFill rotWithShape="1">
            <a:blip r:embed="rId3">
              <a:alphaModFix/>
            </a:blip>
            <a:stretch>
              <a:fillRect b="0" l="0" r="0" t="0"/>
            </a:stretch>
          </a:blipFill>
          <a:ln>
            <a:noFill/>
          </a:ln>
        </p:spPr>
      </p:sp>
      <p:sp>
        <p:nvSpPr>
          <p:cNvPr id="133" name="Google Shape;133;p6"/>
          <p:cNvSpPr txBox="1"/>
          <p:nvPr/>
        </p:nvSpPr>
        <p:spPr>
          <a:xfrm>
            <a:off x="426490" y="2768180"/>
            <a:ext cx="11114932" cy="6683030"/>
          </a:xfrm>
          <a:prstGeom prst="rect">
            <a:avLst/>
          </a:prstGeom>
          <a:noFill/>
          <a:ln>
            <a:noFill/>
          </a:ln>
        </p:spPr>
        <p:txBody>
          <a:bodyPr anchorCtr="0" anchor="t" bIns="0" lIns="0" spcFirstLastPara="1" rIns="0" wrap="square" tIns="0">
            <a:spAutoFit/>
          </a:bodyPr>
          <a:lstStyle/>
          <a:p>
            <a:pPr indent="-274134" lvl="1" marL="548268" marR="0" rtl="0" algn="l">
              <a:lnSpc>
                <a:spcPct val="140015"/>
              </a:lnSpc>
              <a:spcBef>
                <a:spcPts val="0"/>
              </a:spcBef>
              <a:spcAft>
                <a:spcPts val="0"/>
              </a:spcAft>
              <a:buClr>
                <a:srgbClr val="FFFFFF"/>
              </a:buClr>
              <a:buSzPts val="2539"/>
              <a:buFont typeface="Arial"/>
              <a:buChar char="•"/>
            </a:pPr>
            <a:r>
              <a:rPr b="0" i="0" lang="en-US" sz="2539" u="none" cap="none" strike="noStrike">
                <a:solidFill>
                  <a:srgbClr val="FFFFFF"/>
                </a:solidFill>
                <a:latin typeface="Arial"/>
                <a:ea typeface="Arial"/>
                <a:cs typeface="Arial"/>
                <a:sym typeface="Arial"/>
              </a:rPr>
              <a:t>Apoyar la labor del radiólogo, entregando información que facilite la priorización de casos más críticos.</a:t>
            </a:r>
            <a:endParaRPr/>
          </a:p>
          <a:p>
            <a:pPr indent="0" lvl="0" marL="0" marR="0" rtl="0" algn="l">
              <a:lnSpc>
                <a:spcPct val="140015"/>
              </a:lnSpc>
              <a:spcBef>
                <a:spcPts val="0"/>
              </a:spcBef>
              <a:spcAft>
                <a:spcPts val="0"/>
              </a:spcAft>
              <a:buNone/>
            </a:pPr>
            <a:r>
              <a:t/>
            </a:r>
            <a:endParaRPr b="0" i="0" sz="2539" u="none" cap="none" strike="noStrike">
              <a:solidFill>
                <a:srgbClr val="FFFFFF"/>
              </a:solidFill>
              <a:latin typeface="Arial"/>
              <a:ea typeface="Arial"/>
              <a:cs typeface="Arial"/>
              <a:sym typeface="Arial"/>
            </a:endParaRPr>
          </a:p>
          <a:p>
            <a:pPr indent="-274134" lvl="1" marL="548268" marR="0" rtl="0" algn="l">
              <a:lnSpc>
                <a:spcPct val="140015"/>
              </a:lnSpc>
              <a:spcBef>
                <a:spcPts val="0"/>
              </a:spcBef>
              <a:spcAft>
                <a:spcPts val="0"/>
              </a:spcAft>
              <a:buClr>
                <a:srgbClr val="FFFFFF"/>
              </a:buClr>
              <a:buSzPts val="2539"/>
              <a:buFont typeface="Arial"/>
              <a:buChar char="•"/>
            </a:pPr>
            <a:r>
              <a:rPr b="0" i="0" lang="en-US" sz="2539" u="none" cap="none" strike="noStrike">
                <a:solidFill>
                  <a:srgbClr val="FFFFFF"/>
                </a:solidFill>
                <a:latin typeface="Arial"/>
                <a:ea typeface="Arial"/>
                <a:cs typeface="Arial"/>
                <a:sym typeface="Arial"/>
              </a:rPr>
              <a:t>Contribuir a diagnósticos más oportunos, reduciendo el tiempo entre la toma de imágenes y la interpretación de resultados.</a:t>
            </a:r>
            <a:endParaRPr/>
          </a:p>
          <a:p>
            <a:pPr indent="0" lvl="0" marL="0" marR="0" rtl="0" algn="l">
              <a:lnSpc>
                <a:spcPct val="140015"/>
              </a:lnSpc>
              <a:spcBef>
                <a:spcPts val="0"/>
              </a:spcBef>
              <a:spcAft>
                <a:spcPts val="0"/>
              </a:spcAft>
              <a:buNone/>
            </a:pPr>
            <a:r>
              <a:t/>
            </a:r>
            <a:endParaRPr b="0" i="0" sz="2539" u="none" cap="none" strike="noStrike">
              <a:solidFill>
                <a:srgbClr val="FFFFFF"/>
              </a:solidFill>
              <a:latin typeface="Arial"/>
              <a:ea typeface="Arial"/>
              <a:cs typeface="Arial"/>
              <a:sym typeface="Arial"/>
            </a:endParaRPr>
          </a:p>
          <a:p>
            <a:pPr indent="-274134" lvl="1" marL="548268" marR="0" rtl="0" algn="l">
              <a:lnSpc>
                <a:spcPct val="140015"/>
              </a:lnSpc>
              <a:spcBef>
                <a:spcPts val="0"/>
              </a:spcBef>
              <a:spcAft>
                <a:spcPts val="0"/>
              </a:spcAft>
              <a:buClr>
                <a:srgbClr val="FFFFFF"/>
              </a:buClr>
              <a:buSzPts val="2539"/>
              <a:buFont typeface="Arial"/>
              <a:buChar char="•"/>
            </a:pPr>
            <a:r>
              <a:rPr b="0" i="0" lang="en-US" sz="2539" u="none" cap="none" strike="noStrike">
                <a:solidFill>
                  <a:srgbClr val="FFFFFF"/>
                </a:solidFill>
                <a:latin typeface="Arial"/>
                <a:ea typeface="Arial"/>
                <a:cs typeface="Arial"/>
                <a:sym typeface="Arial"/>
              </a:rPr>
              <a:t>Aumentar la confianza de los pacientes, al reforzar la revisión de los estudios con apoyo de tecnología.</a:t>
            </a:r>
            <a:endParaRPr/>
          </a:p>
          <a:p>
            <a:pPr indent="0" lvl="0" marL="0" marR="0" rtl="0" algn="l">
              <a:lnSpc>
                <a:spcPct val="140015"/>
              </a:lnSpc>
              <a:spcBef>
                <a:spcPts val="0"/>
              </a:spcBef>
              <a:spcAft>
                <a:spcPts val="0"/>
              </a:spcAft>
              <a:buNone/>
            </a:pPr>
            <a:r>
              <a:t/>
            </a:r>
            <a:endParaRPr b="0" i="0" sz="2539" u="none" cap="none" strike="noStrike">
              <a:solidFill>
                <a:srgbClr val="FFFFFF"/>
              </a:solidFill>
              <a:latin typeface="Arial"/>
              <a:ea typeface="Arial"/>
              <a:cs typeface="Arial"/>
              <a:sym typeface="Arial"/>
            </a:endParaRPr>
          </a:p>
          <a:p>
            <a:pPr indent="-274134" lvl="1" marL="548268" marR="0" rtl="0" algn="l">
              <a:lnSpc>
                <a:spcPct val="140015"/>
              </a:lnSpc>
              <a:spcBef>
                <a:spcPts val="0"/>
              </a:spcBef>
              <a:spcAft>
                <a:spcPts val="0"/>
              </a:spcAft>
              <a:buClr>
                <a:srgbClr val="FFFFFF"/>
              </a:buClr>
              <a:buSzPts val="2539"/>
              <a:buFont typeface="Arial"/>
              <a:buChar char="•"/>
            </a:pPr>
            <a:r>
              <a:rPr b="0" i="0" lang="en-US" sz="2539" u="none" cap="none" strike="noStrike">
                <a:solidFill>
                  <a:srgbClr val="FFFFFF"/>
                </a:solidFill>
                <a:latin typeface="Arial"/>
                <a:ea typeface="Arial"/>
                <a:cs typeface="Arial"/>
                <a:sym typeface="Arial"/>
              </a:rPr>
              <a:t>Impulsar la innovación en salud, acercando soluciones digitales al ámbito hospitalario.</a:t>
            </a:r>
            <a:endParaRPr/>
          </a:p>
          <a:p>
            <a:pPr indent="0" lvl="0" marL="0" marR="0" rtl="0" algn="l">
              <a:lnSpc>
                <a:spcPct val="140015"/>
              </a:lnSpc>
              <a:spcBef>
                <a:spcPts val="0"/>
              </a:spcBef>
              <a:spcAft>
                <a:spcPts val="0"/>
              </a:spcAft>
              <a:buNone/>
            </a:pPr>
            <a:r>
              <a:t/>
            </a:r>
            <a:endParaRPr b="0" i="0" sz="2539" u="none" cap="none" strike="noStrike">
              <a:solidFill>
                <a:srgbClr val="FFFFFF"/>
              </a:solidFill>
              <a:latin typeface="Arial"/>
              <a:ea typeface="Arial"/>
              <a:cs typeface="Arial"/>
              <a:sym typeface="Arial"/>
            </a:endParaRPr>
          </a:p>
          <a:p>
            <a:pPr indent="-274134" lvl="1" marL="548268" marR="0" rtl="0" algn="l">
              <a:lnSpc>
                <a:spcPct val="140015"/>
              </a:lnSpc>
              <a:spcBef>
                <a:spcPts val="0"/>
              </a:spcBef>
              <a:spcAft>
                <a:spcPts val="0"/>
              </a:spcAft>
              <a:buClr>
                <a:srgbClr val="FFFFFF"/>
              </a:buClr>
              <a:buSzPts val="2539"/>
              <a:buFont typeface="Arial"/>
              <a:buChar char="•"/>
            </a:pPr>
            <a:r>
              <a:rPr b="0" i="0" lang="en-US" sz="2539" u="none" cap="none" strike="noStrike">
                <a:solidFill>
                  <a:srgbClr val="FFFFFF"/>
                </a:solidFill>
                <a:latin typeface="Arial"/>
                <a:ea typeface="Arial"/>
                <a:cs typeface="Arial"/>
                <a:sym typeface="Arial"/>
              </a:rPr>
              <a:t>Favorecer la calidad de vida de los pacientes, al promover la detección temprana y las oportunidades de tratamiento.</a:t>
            </a:r>
            <a:endParaRPr/>
          </a:p>
          <a:p>
            <a:pPr indent="0" lvl="0" marL="0" marR="0" rtl="0" algn="l">
              <a:lnSpc>
                <a:spcPct val="140015"/>
              </a:lnSpc>
              <a:spcBef>
                <a:spcPts val="0"/>
              </a:spcBef>
              <a:spcAft>
                <a:spcPts val="0"/>
              </a:spcAft>
              <a:buNone/>
            </a:pPr>
            <a:r>
              <a:t/>
            </a:r>
            <a:endParaRPr b="0" i="0" sz="2539" u="none" cap="none" strike="noStrike">
              <a:solidFill>
                <a:srgbClr val="FFFFFF"/>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757"/>
        </a:solidFill>
      </p:bgPr>
    </p:bg>
    <p:spTree>
      <p:nvGrpSpPr>
        <p:cNvPr id="137" name="Shape 137"/>
        <p:cNvGrpSpPr/>
        <p:nvPr/>
      </p:nvGrpSpPr>
      <p:grpSpPr>
        <a:xfrm>
          <a:off x="0" y="0"/>
          <a:ext cx="0" cy="0"/>
          <a:chOff x="0" y="0"/>
          <a:chExt cx="0" cy="0"/>
        </a:xfrm>
      </p:grpSpPr>
      <p:grpSp>
        <p:nvGrpSpPr>
          <p:cNvPr id="138" name="Google Shape;138;p7"/>
          <p:cNvGrpSpPr/>
          <p:nvPr/>
        </p:nvGrpSpPr>
        <p:grpSpPr>
          <a:xfrm rot="-5465782">
            <a:off x="5438302" y="5621977"/>
            <a:ext cx="6431373" cy="826634"/>
            <a:chOff x="0" y="0"/>
            <a:chExt cx="1482127" cy="190500"/>
          </a:xfrm>
        </p:grpSpPr>
        <p:sp>
          <p:nvSpPr>
            <p:cNvPr id="139" name="Google Shape;139;p7"/>
            <p:cNvSpPr/>
            <p:nvPr/>
          </p:nvSpPr>
          <p:spPr>
            <a:xfrm>
              <a:off x="0" y="0"/>
              <a:ext cx="1482127" cy="190500"/>
            </a:xfrm>
            <a:custGeom>
              <a:rect b="b" l="l" r="r" t="t"/>
              <a:pathLst>
                <a:path extrusionOk="0" h="190500" w="1482127">
                  <a:moveTo>
                    <a:pt x="1482127" y="0"/>
                  </a:moveTo>
                  <a:lnTo>
                    <a:pt x="1482127" y="142894"/>
                  </a:lnTo>
                  <a:cubicBezTo>
                    <a:pt x="1358616" y="142894"/>
                    <a:pt x="1358616" y="190500"/>
                    <a:pt x="1235107" y="190500"/>
                  </a:cubicBezTo>
                  <a:cubicBezTo>
                    <a:pt x="1111556" y="190500"/>
                    <a:pt x="1111556" y="142894"/>
                    <a:pt x="988047" y="142894"/>
                  </a:cubicBezTo>
                  <a:cubicBezTo>
                    <a:pt x="864535" y="142894"/>
                    <a:pt x="864535" y="190500"/>
                    <a:pt x="741024" y="190500"/>
                  </a:cubicBezTo>
                  <a:cubicBezTo>
                    <a:pt x="617515" y="190500"/>
                    <a:pt x="617515" y="142894"/>
                    <a:pt x="494004" y="142894"/>
                  </a:cubicBezTo>
                  <a:cubicBezTo>
                    <a:pt x="370492" y="142894"/>
                    <a:pt x="370492" y="190500"/>
                    <a:pt x="247021" y="190500"/>
                  </a:cubicBezTo>
                  <a:cubicBezTo>
                    <a:pt x="123511" y="190500"/>
                    <a:pt x="123511" y="142894"/>
                    <a:pt x="0" y="142894"/>
                  </a:cubicBezTo>
                  <a:lnTo>
                    <a:pt x="0" y="0"/>
                  </a:lnTo>
                  <a:cubicBezTo>
                    <a:pt x="123511" y="0"/>
                    <a:pt x="123511" y="47606"/>
                    <a:pt x="247021" y="47606"/>
                  </a:cubicBezTo>
                  <a:cubicBezTo>
                    <a:pt x="370492" y="47606"/>
                    <a:pt x="370492" y="0"/>
                    <a:pt x="494004" y="0"/>
                  </a:cubicBezTo>
                  <a:cubicBezTo>
                    <a:pt x="617515" y="0"/>
                    <a:pt x="617515" y="47606"/>
                    <a:pt x="741024" y="47606"/>
                  </a:cubicBezTo>
                  <a:cubicBezTo>
                    <a:pt x="864535" y="47606"/>
                    <a:pt x="864535" y="0"/>
                    <a:pt x="988047" y="0"/>
                  </a:cubicBezTo>
                  <a:cubicBezTo>
                    <a:pt x="1111556" y="0"/>
                    <a:pt x="1111556" y="47606"/>
                    <a:pt x="1235107" y="47606"/>
                  </a:cubicBezTo>
                  <a:cubicBezTo>
                    <a:pt x="1358616" y="47606"/>
                    <a:pt x="1358616" y="0"/>
                    <a:pt x="148212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7"/>
            <p:cNvSpPr txBox="1"/>
            <p:nvPr/>
          </p:nvSpPr>
          <p:spPr>
            <a:xfrm>
              <a:off x="0" y="12700"/>
              <a:ext cx="1482127" cy="127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1" name="Google Shape;141;p7"/>
          <p:cNvSpPr txBox="1"/>
          <p:nvPr/>
        </p:nvSpPr>
        <p:spPr>
          <a:xfrm>
            <a:off x="9437146" y="2961402"/>
            <a:ext cx="9011119" cy="5950559"/>
          </a:xfrm>
          <a:prstGeom prst="rect">
            <a:avLst/>
          </a:prstGeom>
          <a:noFill/>
          <a:ln>
            <a:noFill/>
          </a:ln>
        </p:spPr>
        <p:txBody>
          <a:bodyPr anchorCtr="0" anchor="t" bIns="0" lIns="0" spcFirstLastPara="1" rIns="0" wrap="square" tIns="0">
            <a:spAutoFit/>
          </a:bodyPr>
          <a:lstStyle/>
          <a:p>
            <a:pPr indent="0" lvl="0" marL="0" marR="0" rtl="0" algn="l">
              <a:lnSpc>
                <a:spcPct val="139980"/>
              </a:lnSpc>
              <a:spcBef>
                <a:spcPts val="0"/>
              </a:spcBef>
              <a:spcAft>
                <a:spcPts val="0"/>
              </a:spcAft>
              <a:buNone/>
            </a:pPr>
            <a:r>
              <a:rPr b="0" i="0" lang="en-US" sz="3089" u="none" cap="none" strike="noStrike">
                <a:solidFill>
                  <a:srgbClr val="FFFFFF"/>
                </a:solidFill>
                <a:latin typeface="Arial"/>
                <a:ea typeface="Arial"/>
                <a:cs typeface="Arial"/>
                <a:sym typeface="Arial"/>
              </a:rPr>
              <a:t>Limitaciones</a:t>
            </a:r>
            <a:endParaRPr/>
          </a:p>
          <a:p>
            <a:pPr indent="0" lvl="0" marL="0" marR="0" rtl="0" algn="l">
              <a:lnSpc>
                <a:spcPct val="139980"/>
              </a:lnSpc>
              <a:spcBef>
                <a:spcPts val="0"/>
              </a:spcBef>
              <a:spcAft>
                <a:spcPts val="0"/>
              </a:spcAft>
              <a:buNone/>
            </a:pPr>
            <a:r>
              <a:t/>
            </a:r>
            <a:endParaRPr b="0" i="0" sz="3089" u="none" cap="none" strike="noStrike">
              <a:solidFill>
                <a:srgbClr val="FFFFFF"/>
              </a:solidFill>
              <a:latin typeface="Arial"/>
              <a:ea typeface="Arial"/>
              <a:cs typeface="Arial"/>
              <a:sym typeface="Arial"/>
            </a:endParaRPr>
          </a:p>
          <a:p>
            <a:pPr indent="-333467" lvl="1" marL="666936" marR="0" rtl="0" algn="l">
              <a:lnSpc>
                <a:spcPct val="139980"/>
              </a:lnSpc>
              <a:spcBef>
                <a:spcPts val="0"/>
              </a:spcBef>
              <a:spcAft>
                <a:spcPts val="0"/>
              </a:spcAft>
              <a:buClr>
                <a:srgbClr val="FFFFFF"/>
              </a:buClr>
              <a:buSzPts val="3089"/>
              <a:buFont typeface="Arial"/>
              <a:buChar char="•"/>
            </a:pPr>
            <a:r>
              <a:rPr b="0" i="0" lang="en-US" sz="3089" u="none" cap="none" strike="noStrike">
                <a:solidFill>
                  <a:srgbClr val="FFFFFF"/>
                </a:solidFill>
                <a:latin typeface="Arial"/>
                <a:ea typeface="Arial"/>
                <a:cs typeface="Arial"/>
                <a:sym typeface="Arial"/>
              </a:rPr>
              <a:t>El sistema se prueba en un entorno simulado, no en un hospital real.</a:t>
            </a:r>
            <a:endParaRPr/>
          </a:p>
          <a:p>
            <a:pPr indent="-333467" lvl="1" marL="666936" marR="0" rtl="0" algn="l">
              <a:lnSpc>
                <a:spcPct val="139980"/>
              </a:lnSpc>
              <a:spcBef>
                <a:spcPts val="0"/>
              </a:spcBef>
              <a:spcAft>
                <a:spcPts val="0"/>
              </a:spcAft>
              <a:buClr>
                <a:srgbClr val="FFFFFF"/>
              </a:buClr>
              <a:buSzPts val="3089"/>
              <a:buFont typeface="Arial"/>
              <a:buChar char="•"/>
            </a:pPr>
            <a:r>
              <a:rPr b="0" i="0" lang="en-US" sz="3089" u="none" cap="none" strike="noStrike">
                <a:solidFill>
                  <a:srgbClr val="FFFFFF"/>
                </a:solidFill>
                <a:latin typeface="Arial"/>
                <a:ea typeface="Arial"/>
                <a:cs typeface="Arial"/>
                <a:sym typeface="Arial"/>
              </a:rPr>
              <a:t>El modelo de IA está limitado al análisis de cáncer pulmonar, no a otras patologías.</a:t>
            </a:r>
            <a:endParaRPr/>
          </a:p>
          <a:p>
            <a:pPr indent="-333467" lvl="1" marL="666936" marR="0" rtl="0" algn="l">
              <a:lnSpc>
                <a:spcPct val="139980"/>
              </a:lnSpc>
              <a:spcBef>
                <a:spcPts val="0"/>
              </a:spcBef>
              <a:spcAft>
                <a:spcPts val="0"/>
              </a:spcAft>
              <a:buClr>
                <a:srgbClr val="FFFFFF"/>
              </a:buClr>
              <a:buSzPts val="3089"/>
              <a:buFont typeface="Arial"/>
              <a:buChar char="•"/>
            </a:pPr>
            <a:r>
              <a:rPr b="0" i="0" lang="en-US" sz="3089" u="none" cap="none" strike="noStrike">
                <a:solidFill>
                  <a:srgbClr val="FFFFFF"/>
                </a:solidFill>
                <a:latin typeface="Arial"/>
                <a:ea typeface="Arial"/>
                <a:cs typeface="Arial"/>
                <a:sym typeface="Arial"/>
              </a:rPr>
              <a:t>La precisión depende de la calidad y cantidad de datos disponibles.</a:t>
            </a:r>
            <a:endParaRPr/>
          </a:p>
          <a:p>
            <a:pPr indent="-333467" lvl="1" marL="666936" marR="0" rtl="0" algn="l">
              <a:lnSpc>
                <a:spcPct val="139980"/>
              </a:lnSpc>
              <a:spcBef>
                <a:spcPts val="0"/>
              </a:spcBef>
              <a:spcAft>
                <a:spcPts val="0"/>
              </a:spcAft>
              <a:buClr>
                <a:srgbClr val="FFFFFF"/>
              </a:buClr>
              <a:buSzPts val="3089"/>
              <a:buFont typeface="Arial"/>
              <a:buChar char="•"/>
            </a:pPr>
            <a:r>
              <a:rPr b="0" i="0" lang="en-US" sz="3089" u="none" cap="none" strike="noStrike">
                <a:solidFill>
                  <a:srgbClr val="FFFFFF"/>
                </a:solidFill>
                <a:latin typeface="Arial"/>
                <a:ea typeface="Arial"/>
                <a:cs typeface="Arial"/>
                <a:sym typeface="Arial"/>
              </a:rPr>
              <a:t>No reemplaza al radiólogo, solo actúa como apoyo en el diagnóstico.</a:t>
            </a:r>
            <a:endParaRPr/>
          </a:p>
          <a:p>
            <a:pPr indent="0" lvl="0" marL="0" marR="0" rtl="0" algn="l">
              <a:lnSpc>
                <a:spcPct val="139980"/>
              </a:lnSpc>
              <a:spcBef>
                <a:spcPts val="0"/>
              </a:spcBef>
              <a:spcAft>
                <a:spcPts val="0"/>
              </a:spcAft>
              <a:buNone/>
            </a:pPr>
            <a:r>
              <a:t/>
            </a:r>
            <a:endParaRPr b="0" i="0" sz="3089" u="none" cap="none" strike="noStrike">
              <a:solidFill>
                <a:srgbClr val="FFFFFF"/>
              </a:solidFill>
              <a:latin typeface="Arial"/>
              <a:ea typeface="Arial"/>
              <a:cs typeface="Arial"/>
              <a:sym typeface="Arial"/>
            </a:endParaRPr>
          </a:p>
        </p:txBody>
      </p:sp>
      <p:sp>
        <p:nvSpPr>
          <p:cNvPr id="142" name="Google Shape;142;p7"/>
          <p:cNvSpPr txBox="1"/>
          <p:nvPr/>
        </p:nvSpPr>
        <p:spPr>
          <a:xfrm>
            <a:off x="583066" y="340694"/>
            <a:ext cx="10806000" cy="2977800"/>
          </a:xfrm>
          <a:prstGeom prst="rect">
            <a:avLst/>
          </a:prstGeom>
          <a:noFill/>
          <a:ln>
            <a:noFill/>
          </a:ln>
        </p:spPr>
        <p:txBody>
          <a:bodyPr anchorCtr="0" anchor="t" bIns="0" lIns="0" spcFirstLastPara="1" rIns="0" wrap="square" tIns="0">
            <a:spAutoFit/>
          </a:bodyPr>
          <a:lstStyle/>
          <a:p>
            <a:pPr indent="0" lvl="0" marL="0" marR="0" rtl="0" algn="l">
              <a:lnSpc>
                <a:spcPct val="139992"/>
              </a:lnSpc>
              <a:spcBef>
                <a:spcPts val="0"/>
              </a:spcBef>
              <a:spcAft>
                <a:spcPts val="0"/>
              </a:spcAft>
              <a:buNone/>
            </a:pPr>
            <a:r>
              <a:rPr b="1" i="0" lang="en-US" sz="5091" u="none" cap="none" strike="noStrike">
                <a:solidFill>
                  <a:srgbClr val="FFFFFF"/>
                </a:solidFill>
                <a:latin typeface="Roboto"/>
                <a:ea typeface="Roboto"/>
                <a:cs typeface="Roboto"/>
                <a:sym typeface="Roboto"/>
              </a:rPr>
              <a:t>ALCANCE Y LIMITACIONES DEL PROYECTO</a:t>
            </a:r>
            <a:endParaRPr b="1">
              <a:latin typeface="Roboto"/>
              <a:ea typeface="Roboto"/>
              <a:cs typeface="Roboto"/>
              <a:sym typeface="Roboto"/>
            </a:endParaRPr>
          </a:p>
          <a:p>
            <a:pPr indent="0" lvl="0" marL="0" marR="0" rtl="0" algn="l">
              <a:lnSpc>
                <a:spcPct val="139992"/>
              </a:lnSpc>
              <a:spcBef>
                <a:spcPts val="0"/>
              </a:spcBef>
              <a:spcAft>
                <a:spcPts val="0"/>
              </a:spcAft>
              <a:buNone/>
            </a:pPr>
            <a:r>
              <a:t/>
            </a:r>
            <a:endParaRPr b="1" i="0" sz="5091" u="none" cap="none" strike="noStrike">
              <a:solidFill>
                <a:srgbClr val="FFFFFF"/>
              </a:solidFill>
              <a:latin typeface="Ultra"/>
              <a:ea typeface="Ultra"/>
              <a:cs typeface="Ultra"/>
              <a:sym typeface="Ultra"/>
            </a:endParaRPr>
          </a:p>
        </p:txBody>
      </p:sp>
      <p:sp>
        <p:nvSpPr>
          <p:cNvPr id="143" name="Google Shape;143;p7"/>
          <p:cNvSpPr txBox="1"/>
          <p:nvPr/>
        </p:nvSpPr>
        <p:spPr>
          <a:xfrm>
            <a:off x="583066" y="2688463"/>
            <a:ext cx="7000970" cy="6934405"/>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0" i="0" lang="en-US" sz="4016" u="none" cap="none" strike="noStrike">
                <a:solidFill>
                  <a:srgbClr val="FFFFFF"/>
                </a:solidFill>
                <a:latin typeface="Arial"/>
                <a:ea typeface="Arial"/>
                <a:cs typeface="Arial"/>
                <a:sym typeface="Arial"/>
              </a:rPr>
              <a:t>                     Alcance</a:t>
            </a:r>
            <a:endParaRPr/>
          </a:p>
          <a:p>
            <a:pPr indent="0" lvl="0" marL="0" marR="0" rtl="0" algn="l">
              <a:lnSpc>
                <a:spcPct val="94696"/>
              </a:lnSpc>
              <a:spcBef>
                <a:spcPts val="0"/>
              </a:spcBef>
              <a:spcAft>
                <a:spcPts val="0"/>
              </a:spcAft>
              <a:buNone/>
            </a:pPr>
            <a:r>
              <a:t/>
            </a:r>
            <a:endParaRPr b="0" i="0" sz="4016" u="none" cap="none" strike="noStrike">
              <a:solidFill>
                <a:srgbClr val="FFFFFF"/>
              </a:solidFill>
              <a:latin typeface="Arial"/>
              <a:ea typeface="Arial"/>
              <a:cs typeface="Arial"/>
              <a:sym typeface="Arial"/>
            </a:endParaRPr>
          </a:p>
          <a:p>
            <a:pPr indent="-293296" lvl="1" marL="586593" marR="0" rtl="0" algn="l">
              <a:lnSpc>
                <a:spcPct val="140022"/>
              </a:lnSpc>
              <a:spcBef>
                <a:spcPts val="0"/>
              </a:spcBef>
              <a:spcAft>
                <a:spcPts val="0"/>
              </a:spcAft>
              <a:buClr>
                <a:srgbClr val="FFFFFF"/>
              </a:buClr>
              <a:buSzPts val="2716"/>
              <a:buFont typeface="Arial"/>
              <a:buChar char="•"/>
            </a:pPr>
            <a:r>
              <a:rPr b="0" i="0" lang="en-US" sz="2716" u="none" cap="none" strike="noStrike">
                <a:solidFill>
                  <a:srgbClr val="FFFFFF"/>
                </a:solidFill>
                <a:latin typeface="Arial"/>
                <a:ea typeface="Arial"/>
                <a:cs typeface="Arial"/>
                <a:sym typeface="Arial"/>
              </a:rPr>
              <a:t>Simulación de un sistema PACS para la gestión de imágenes médicas.</a:t>
            </a:r>
            <a:endParaRPr/>
          </a:p>
          <a:p>
            <a:pPr indent="-293296" lvl="1" marL="586593" marR="0" rtl="0" algn="l">
              <a:lnSpc>
                <a:spcPct val="140022"/>
              </a:lnSpc>
              <a:spcBef>
                <a:spcPts val="0"/>
              </a:spcBef>
              <a:spcAft>
                <a:spcPts val="0"/>
              </a:spcAft>
              <a:buClr>
                <a:srgbClr val="FFFFFF"/>
              </a:buClr>
              <a:buSzPts val="2716"/>
              <a:buFont typeface="Arial"/>
              <a:buChar char="•"/>
            </a:pPr>
            <a:r>
              <a:rPr b="0" i="0" lang="en-US" sz="2716" u="none" cap="none" strike="noStrike">
                <a:solidFill>
                  <a:srgbClr val="FFFFFF"/>
                </a:solidFill>
                <a:latin typeface="Arial"/>
                <a:ea typeface="Arial"/>
                <a:cs typeface="Arial"/>
                <a:sym typeface="Arial"/>
              </a:rPr>
              <a:t>Integración de un modelo de inteligencia artificial para análisis de tomografías pulmonares.</a:t>
            </a:r>
            <a:endParaRPr/>
          </a:p>
          <a:p>
            <a:pPr indent="-293296" lvl="1" marL="586593" marR="0" rtl="0" algn="l">
              <a:lnSpc>
                <a:spcPct val="140022"/>
              </a:lnSpc>
              <a:spcBef>
                <a:spcPts val="0"/>
              </a:spcBef>
              <a:spcAft>
                <a:spcPts val="0"/>
              </a:spcAft>
              <a:buClr>
                <a:srgbClr val="FFFFFF"/>
              </a:buClr>
              <a:buSzPts val="2716"/>
              <a:buFont typeface="Arial"/>
              <a:buChar char="•"/>
            </a:pPr>
            <a:r>
              <a:rPr b="0" i="0" lang="en-US" sz="2716" u="none" cap="none" strike="noStrike">
                <a:solidFill>
                  <a:srgbClr val="FFFFFF"/>
                </a:solidFill>
                <a:latin typeface="Arial"/>
                <a:ea typeface="Arial"/>
                <a:cs typeface="Arial"/>
                <a:sym typeface="Arial"/>
              </a:rPr>
              <a:t>Generación de predicciones que apoyen la detección temprana de cáncer de pulmón.</a:t>
            </a:r>
            <a:endParaRPr/>
          </a:p>
          <a:p>
            <a:pPr indent="-293296" lvl="1" marL="586593" marR="0" rtl="0" algn="l">
              <a:lnSpc>
                <a:spcPct val="140022"/>
              </a:lnSpc>
              <a:spcBef>
                <a:spcPts val="0"/>
              </a:spcBef>
              <a:spcAft>
                <a:spcPts val="0"/>
              </a:spcAft>
              <a:buClr>
                <a:srgbClr val="FFFFFF"/>
              </a:buClr>
              <a:buSzPts val="2716"/>
              <a:buFont typeface="Arial"/>
              <a:buChar char="•"/>
            </a:pPr>
            <a:r>
              <a:rPr b="0" i="0" lang="en-US" sz="2716" u="none" cap="none" strike="noStrike">
                <a:solidFill>
                  <a:srgbClr val="FFFFFF"/>
                </a:solidFill>
                <a:latin typeface="Arial"/>
                <a:ea typeface="Arial"/>
                <a:cs typeface="Arial"/>
                <a:sym typeface="Arial"/>
              </a:rPr>
              <a:t>Interfaz básica para visualizar resultados y facilitar la interpretación por parte de especialistas.</a:t>
            </a:r>
            <a:endParaRPr/>
          </a:p>
          <a:p>
            <a:pPr indent="0" lvl="0" marL="0" marR="0" rtl="0" algn="l">
              <a:lnSpc>
                <a:spcPct val="140022"/>
              </a:lnSpc>
              <a:spcBef>
                <a:spcPts val="0"/>
              </a:spcBef>
              <a:spcAft>
                <a:spcPts val="0"/>
              </a:spcAft>
              <a:buNone/>
            </a:pPr>
            <a:r>
              <a:t/>
            </a:r>
            <a:endParaRPr b="0" i="0" sz="2716" u="none" cap="none" strike="noStrike">
              <a:solidFill>
                <a:srgbClr val="FFFFFF"/>
              </a:solidFill>
              <a:latin typeface="Arial"/>
              <a:ea typeface="Arial"/>
              <a:cs typeface="Arial"/>
              <a:sym typeface="Arial"/>
            </a:endParaRPr>
          </a:p>
        </p:txBody>
      </p:sp>
      <p:sp>
        <p:nvSpPr>
          <p:cNvPr id="144" name="Google Shape;144;p7"/>
          <p:cNvSpPr/>
          <p:nvPr/>
        </p:nvSpPr>
        <p:spPr>
          <a:xfrm>
            <a:off x="12877480" y="-120265"/>
            <a:ext cx="5211629" cy="1895138"/>
          </a:xfrm>
          <a:custGeom>
            <a:rect b="b" l="l" r="r" t="t"/>
            <a:pathLst>
              <a:path extrusionOk="0" h="1895138" w="5211629">
                <a:moveTo>
                  <a:pt x="0" y="0"/>
                </a:moveTo>
                <a:lnTo>
                  <a:pt x="5211629" y="0"/>
                </a:lnTo>
                <a:lnTo>
                  <a:pt x="5211629" y="1895138"/>
                </a:lnTo>
                <a:lnTo>
                  <a:pt x="0" y="1895138"/>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757"/>
        </a:solidFill>
      </p:bgPr>
    </p:bg>
    <p:spTree>
      <p:nvGrpSpPr>
        <p:cNvPr id="148" name="Shape 148"/>
        <p:cNvGrpSpPr/>
        <p:nvPr/>
      </p:nvGrpSpPr>
      <p:grpSpPr>
        <a:xfrm>
          <a:off x="0" y="0"/>
          <a:ext cx="0" cy="0"/>
          <a:chOff x="0" y="0"/>
          <a:chExt cx="0" cy="0"/>
        </a:xfrm>
      </p:grpSpPr>
      <p:sp>
        <p:nvSpPr>
          <p:cNvPr id="149" name="Google Shape;149;p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757"/>
        </a:solidFill>
      </p:bgPr>
    </p:bg>
    <p:spTree>
      <p:nvGrpSpPr>
        <p:cNvPr id="153" name="Shape 153"/>
        <p:cNvGrpSpPr/>
        <p:nvPr/>
      </p:nvGrpSpPr>
      <p:grpSpPr>
        <a:xfrm>
          <a:off x="0" y="0"/>
          <a:ext cx="0" cy="0"/>
          <a:chOff x="0" y="0"/>
          <a:chExt cx="0" cy="0"/>
        </a:xfrm>
      </p:grpSpPr>
      <p:sp>
        <p:nvSpPr>
          <p:cNvPr id="154" name="Google Shape;154;p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0"/>
          <p:cNvSpPr/>
          <p:nvPr/>
        </p:nvSpPr>
        <p:spPr>
          <a:xfrm>
            <a:off x="704412" y="71605"/>
            <a:ext cx="11552974" cy="10143790"/>
          </a:xfrm>
          <a:custGeom>
            <a:rect b="b" l="l" r="r" t="t"/>
            <a:pathLst>
              <a:path extrusionOk="0" h="10143790" w="11552974">
                <a:moveTo>
                  <a:pt x="0" y="0"/>
                </a:moveTo>
                <a:lnTo>
                  <a:pt x="11552973" y="0"/>
                </a:lnTo>
                <a:lnTo>
                  <a:pt x="11552973" y="10143790"/>
                </a:lnTo>
                <a:lnTo>
                  <a:pt x="0" y="10143790"/>
                </a:lnTo>
                <a:lnTo>
                  <a:pt x="0" y="0"/>
                </a:lnTo>
                <a:close/>
              </a:path>
            </a:pathLst>
          </a:custGeom>
          <a:blipFill rotWithShape="1">
            <a:blip r:embed="rId3">
              <a:alphaModFix/>
            </a:blip>
            <a:stretch>
              <a:fillRect b="0" l="0" r="0" t="0"/>
            </a:stretch>
          </a:blipFill>
          <a:ln>
            <a:noFill/>
          </a:ln>
        </p:spPr>
      </p:sp>
      <p:sp>
        <p:nvSpPr>
          <p:cNvPr id="160" name="Google Shape;160;p10"/>
          <p:cNvSpPr txBox="1"/>
          <p:nvPr/>
        </p:nvSpPr>
        <p:spPr>
          <a:xfrm>
            <a:off x="12544914" y="4172060"/>
            <a:ext cx="5478268" cy="2473021"/>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1" i="0" lang="en-US" sz="4636" u="none" cap="none" strike="noStrike">
                <a:solidFill>
                  <a:srgbClr val="002757"/>
                </a:solidFill>
                <a:latin typeface="Ultra"/>
                <a:ea typeface="Ultra"/>
                <a:cs typeface="Ultra"/>
                <a:sym typeface="Ultra"/>
              </a:rPr>
              <a:t>NUESTRA ARQUITECTURA DE SOFTWARE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1"/>
          <p:cNvSpPr/>
          <p:nvPr/>
        </p:nvSpPr>
        <p:spPr>
          <a:xfrm>
            <a:off x="0" y="313632"/>
            <a:ext cx="10376963" cy="9877962"/>
          </a:xfrm>
          <a:custGeom>
            <a:rect b="b" l="l" r="r" t="t"/>
            <a:pathLst>
              <a:path extrusionOk="0" h="9877962" w="10376963">
                <a:moveTo>
                  <a:pt x="0" y="0"/>
                </a:moveTo>
                <a:lnTo>
                  <a:pt x="10376963" y="0"/>
                </a:lnTo>
                <a:lnTo>
                  <a:pt x="10376963" y="9877962"/>
                </a:lnTo>
                <a:lnTo>
                  <a:pt x="0" y="9877962"/>
                </a:lnTo>
                <a:lnTo>
                  <a:pt x="0" y="0"/>
                </a:lnTo>
                <a:close/>
              </a:path>
            </a:pathLst>
          </a:custGeom>
          <a:blipFill rotWithShape="1">
            <a:blip r:embed="rId3">
              <a:alphaModFix/>
            </a:blip>
            <a:stretch>
              <a:fillRect b="0" l="0" r="0" t="0"/>
            </a:stretch>
          </a:blipFill>
          <a:ln>
            <a:noFill/>
          </a:ln>
        </p:spPr>
      </p:sp>
      <p:sp>
        <p:nvSpPr>
          <p:cNvPr id="166" name="Google Shape;166;p11"/>
          <p:cNvSpPr txBox="1"/>
          <p:nvPr/>
        </p:nvSpPr>
        <p:spPr>
          <a:xfrm>
            <a:off x="10929814" y="3680402"/>
            <a:ext cx="6543344" cy="2178572"/>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1" i="0" lang="en-US" sz="6104" u="none" cap="none" strike="noStrike">
                <a:solidFill>
                  <a:srgbClr val="002757"/>
                </a:solidFill>
                <a:latin typeface="Ultra"/>
                <a:ea typeface="Ultra"/>
                <a:cs typeface="Ultra"/>
                <a:sym typeface="Ultra"/>
              </a:rPr>
              <a:t>MODELO DE DATOS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757"/>
        </a:solidFill>
      </p:bgPr>
    </p:bg>
    <p:spTree>
      <p:nvGrpSpPr>
        <p:cNvPr id="170" name="Shape 170"/>
        <p:cNvGrpSpPr/>
        <p:nvPr/>
      </p:nvGrpSpPr>
      <p:grpSpPr>
        <a:xfrm>
          <a:off x="0" y="0"/>
          <a:ext cx="0" cy="0"/>
          <a:chOff x="0" y="0"/>
          <a:chExt cx="0" cy="0"/>
        </a:xfrm>
      </p:grpSpPr>
      <p:sp>
        <p:nvSpPr>
          <p:cNvPr id="171" name="Google Shape;171;p12"/>
          <p:cNvSpPr/>
          <p:nvPr/>
        </p:nvSpPr>
        <p:spPr>
          <a:xfrm>
            <a:off x="4722838" y="3914295"/>
            <a:ext cx="1133305" cy="1133305"/>
          </a:xfrm>
          <a:custGeom>
            <a:rect b="b" l="l" r="r" t="t"/>
            <a:pathLst>
              <a:path extrusionOk="0" h="1133305" w="1133305">
                <a:moveTo>
                  <a:pt x="0" y="0"/>
                </a:moveTo>
                <a:lnTo>
                  <a:pt x="1133306" y="0"/>
                </a:lnTo>
                <a:lnTo>
                  <a:pt x="1133306" y="1133306"/>
                </a:lnTo>
                <a:lnTo>
                  <a:pt x="0" y="1133306"/>
                </a:lnTo>
                <a:lnTo>
                  <a:pt x="0" y="0"/>
                </a:lnTo>
                <a:close/>
              </a:path>
            </a:pathLst>
          </a:custGeom>
          <a:blipFill rotWithShape="1">
            <a:blip r:embed="rId3">
              <a:alphaModFix/>
            </a:blip>
            <a:stretch>
              <a:fillRect b="0" l="0" r="0" t="0"/>
            </a:stretch>
          </a:blipFill>
          <a:ln>
            <a:noFill/>
          </a:ln>
        </p:spPr>
      </p:sp>
      <p:sp>
        <p:nvSpPr>
          <p:cNvPr id="172" name="Google Shape;172;p12"/>
          <p:cNvSpPr/>
          <p:nvPr/>
        </p:nvSpPr>
        <p:spPr>
          <a:xfrm>
            <a:off x="14279915" y="3709437"/>
            <a:ext cx="2001322" cy="1338164"/>
          </a:xfrm>
          <a:custGeom>
            <a:rect b="b" l="l" r="r" t="t"/>
            <a:pathLst>
              <a:path extrusionOk="0" h="1338164" w="2001322">
                <a:moveTo>
                  <a:pt x="0" y="0"/>
                </a:moveTo>
                <a:lnTo>
                  <a:pt x="2001322" y="0"/>
                </a:lnTo>
                <a:lnTo>
                  <a:pt x="2001322" y="1338164"/>
                </a:lnTo>
                <a:lnTo>
                  <a:pt x="0" y="1338164"/>
                </a:lnTo>
                <a:lnTo>
                  <a:pt x="0" y="0"/>
                </a:lnTo>
                <a:close/>
              </a:path>
            </a:pathLst>
          </a:custGeom>
          <a:blipFill rotWithShape="1">
            <a:blip r:embed="rId4">
              <a:alphaModFix/>
            </a:blip>
            <a:stretch>
              <a:fillRect b="0" l="0" r="-4964" t="0"/>
            </a:stretch>
          </a:blipFill>
          <a:ln>
            <a:noFill/>
          </a:ln>
        </p:spPr>
      </p:sp>
      <p:sp>
        <p:nvSpPr>
          <p:cNvPr id="173" name="Google Shape;173;p12"/>
          <p:cNvSpPr/>
          <p:nvPr/>
        </p:nvSpPr>
        <p:spPr>
          <a:xfrm>
            <a:off x="11929106" y="3752104"/>
            <a:ext cx="1252829" cy="1252829"/>
          </a:xfrm>
          <a:custGeom>
            <a:rect b="b" l="l" r="r" t="t"/>
            <a:pathLst>
              <a:path extrusionOk="0" h="1252829" w="1252829">
                <a:moveTo>
                  <a:pt x="0" y="0"/>
                </a:moveTo>
                <a:lnTo>
                  <a:pt x="1252829" y="0"/>
                </a:lnTo>
                <a:lnTo>
                  <a:pt x="1252829" y="1252829"/>
                </a:lnTo>
                <a:lnTo>
                  <a:pt x="0" y="1252829"/>
                </a:lnTo>
                <a:lnTo>
                  <a:pt x="0" y="0"/>
                </a:lnTo>
                <a:close/>
              </a:path>
            </a:pathLst>
          </a:custGeom>
          <a:blipFill rotWithShape="1">
            <a:blip r:embed="rId5">
              <a:alphaModFix/>
            </a:blip>
            <a:stretch>
              <a:fillRect b="0" l="0" r="0" t="0"/>
            </a:stretch>
          </a:blipFill>
          <a:ln>
            <a:noFill/>
          </a:ln>
        </p:spPr>
      </p:sp>
      <p:cxnSp>
        <p:nvCxnSpPr>
          <p:cNvPr id="174" name="Google Shape;174;p12"/>
          <p:cNvCxnSpPr/>
          <p:nvPr/>
        </p:nvCxnSpPr>
        <p:spPr>
          <a:xfrm>
            <a:off x="626753" y="6182400"/>
            <a:ext cx="16932448" cy="0"/>
          </a:xfrm>
          <a:prstGeom prst="straightConnector1">
            <a:avLst/>
          </a:prstGeom>
          <a:noFill/>
          <a:ln cap="flat" cmpd="sng" w="38100">
            <a:solidFill>
              <a:srgbClr val="FFFFFF"/>
            </a:solidFill>
            <a:prstDash val="solid"/>
            <a:round/>
            <a:headEnd len="sm" w="sm" type="none"/>
            <a:tailEnd len="sm" w="sm" type="none"/>
          </a:ln>
        </p:spPr>
      </p:cxnSp>
      <p:sp>
        <p:nvSpPr>
          <p:cNvPr id="175" name="Google Shape;175;p12"/>
          <p:cNvSpPr/>
          <p:nvPr/>
        </p:nvSpPr>
        <p:spPr>
          <a:xfrm>
            <a:off x="364466" y="7358848"/>
            <a:ext cx="4187883" cy="1137202"/>
          </a:xfrm>
          <a:custGeom>
            <a:rect b="b" l="l" r="r" t="t"/>
            <a:pathLst>
              <a:path extrusionOk="0" h="1137202" w="4187883">
                <a:moveTo>
                  <a:pt x="0" y="0"/>
                </a:moveTo>
                <a:lnTo>
                  <a:pt x="4187883" y="0"/>
                </a:lnTo>
                <a:lnTo>
                  <a:pt x="4187883" y="1137202"/>
                </a:lnTo>
                <a:lnTo>
                  <a:pt x="0" y="1137202"/>
                </a:lnTo>
                <a:lnTo>
                  <a:pt x="0" y="0"/>
                </a:lnTo>
                <a:close/>
              </a:path>
            </a:pathLst>
          </a:custGeom>
          <a:blipFill rotWithShape="1">
            <a:blip r:embed="rId6">
              <a:alphaModFix/>
            </a:blip>
            <a:stretch>
              <a:fillRect b="0" l="0" r="-9102" t="0"/>
            </a:stretch>
          </a:blipFill>
          <a:ln>
            <a:noFill/>
          </a:ln>
        </p:spPr>
      </p:sp>
      <p:sp>
        <p:nvSpPr>
          <p:cNvPr id="176" name="Google Shape;176;p12"/>
          <p:cNvSpPr/>
          <p:nvPr/>
        </p:nvSpPr>
        <p:spPr>
          <a:xfrm>
            <a:off x="7507003" y="7098907"/>
            <a:ext cx="2205254" cy="2205254"/>
          </a:xfrm>
          <a:custGeom>
            <a:rect b="b" l="l" r="r" t="t"/>
            <a:pathLst>
              <a:path extrusionOk="0" h="2205254" w="2205254">
                <a:moveTo>
                  <a:pt x="0" y="0"/>
                </a:moveTo>
                <a:lnTo>
                  <a:pt x="2205255" y="0"/>
                </a:lnTo>
                <a:lnTo>
                  <a:pt x="2205255" y="2205255"/>
                </a:lnTo>
                <a:lnTo>
                  <a:pt x="0" y="2205255"/>
                </a:lnTo>
                <a:lnTo>
                  <a:pt x="0" y="0"/>
                </a:lnTo>
                <a:close/>
              </a:path>
            </a:pathLst>
          </a:custGeom>
          <a:blipFill rotWithShape="1">
            <a:blip r:embed="rId7">
              <a:alphaModFix/>
            </a:blip>
            <a:stretch>
              <a:fillRect b="0" l="0" r="0" t="0"/>
            </a:stretch>
          </a:blipFill>
          <a:ln>
            <a:noFill/>
          </a:ln>
        </p:spPr>
      </p:sp>
      <p:sp>
        <p:nvSpPr>
          <p:cNvPr id="177" name="Google Shape;177;p12"/>
          <p:cNvSpPr/>
          <p:nvPr/>
        </p:nvSpPr>
        <p:spPr>
          <a:xfrm>
            <a:off x="11720781" y="7500067"/>
            <a:ext cx="2922308" cy="995982"/>
          </a:xfrm>
          <a:custGeom>
            <a:rect b="b" l="l" r="r" t="t"/>
            <a:pathLst>
              <a:path extrusionOk="0" h="995982" w="2922308">
                <a:moveTo>
                  <a:pt x="0" y="0"/>
                </a:moveTo>
                <a:lnTo>
                  <a:pt x="2922308" y="0"/>
                </a:lnTo>
                <a:lnTo>
                  <a:pt x="2922308" y="995983"/>
                </a:lnTo>
                <a:lnTo>
                  <a:pt x="0" y="995983"/>
                </a:lnTo>
                <a:lnTo>
                  <a:pt x="0" y="0"/>
                </a:lnTo>
                <a:close/>
              </a:path>
            </a:pathLst>
          </a:custGeom>
          <a:blipFill rotWithShape="1">
            <a:blip r:embed="rId8">
              <a:alphaModFix/>
            </a:blip>
            <a:stretch>
              <a:fillRect b="0" l="0" r="0" t="0"/>
            </a:stretch>
          </a:blipFill>
          <a:ln>
            <a:noFill/>
          </a:ln>
        </p:spPr>
      </p:sp>
      <p:sp>
        <p:nvSpPr>
          <p:cNvPr id="178" name="Google Shape;178;p12"/>
          <p:cNvSpPr txBox="1"/>
          <p:nvPr/>
        </p:nvSpPr>
        <p:spPr>
          <a:xfrm>
            <a:off x="753959" y="1068985"/>
            <a:ext cx="11382900" cy="7905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b="1" i="0" lang="en-US" sz="5136" u="none" cap="none" strike="noStrike">
                <a:solidFill>
                  <a:srgbClr val="FFFFFF"/>
                </a:solidFill>
                <a:latin typeface="Roboto"/>
                <a:ea typeface="Roboto"/>
                <a:cs typeface="Roboto"/>
                <a:sym typeface="Roboto"/>
              </a:rPr>
              <a:t>TECNOLOGÍAS QUE UTILIZAMOS </a:t>
            </a:r>
            <a:endParaRPr b="1">
              <a:latin typeface="Roboto"/>
              <a:ea typeface="Roboto"/>
              <a:cs typeface="Roboto"/>
              <a:sym typeface="Roboto"/>
            </a:endParaRPr>
          </a:p>
        </p:txBody>
      </p:sp>
      <p:sp>
        <p:nvSpPr>
          <p:cNvPr id="179" name="Google Shape;179;p12"/>
          <p:cNvSpPr txBox="1"/>
          <p:nvPr/>
        </p:nvSpPr>
        <p:spPr>
          <a:xfrm>
            <a:off x="3912045" y="2790021"/>
            <a:ext cx="2754893" cy="716482"/>
          </a:xfrm>
          <a:prstGeom prst="rect">
            <a:avLst/>
          </a:prstGeom>
          <a:noFill/>
          <a:ln>
            <a:noFill/>
          </a:ln>
        </p:spPr>
        <p:txBody>
          <a:bodyPr anchorCtr="0" anchor="t" bIns="0" lIns="0" spcFirstLastPara="1" rIns="0" wrap="square" tIns="0">
            <a:spAutoFit/>
          </a:bodyPr>
          <a:lstStyle/>
          <a:p>
            <a:pPr indent="0" lvl="0" marL="0" marR="0" rtl="0" algn="ctr">
              <a:lnSpc>
                <a:spcPct val="140009"/>
              </a:lnSpc>
              <a:spcBef>
                <a:spcPts val="0"/>
              </a:spcBef>
              <a:spcAft>
                <a:spcPts val="0"/>
              </a:spcAft>
              <a:buNone/>
            </a:pPr>
            <a:r>
              <a:rPr b="1" i="0" lang="en-US" sz="4204" u="none" cap="none" strike="noStrike">
                <a:solidFill>
                  <a:srgbClr val="FFFFFF"/>
                </a:solidFill>
                <a:latin typeface="Open Sans"/>
                <a:ea typeface="Open Sans"/>
                <a:cs typeface="Open Sans"/>
                <a:sym typeface="Open Sans"/>
              </a:rPr>
              <a:t>Lenguaje</a:t>
            </a:r>
            <a:endParaRPr/>
          </a:p>
        </p:txBody>
      </p:sp>
      <p:sp>
        <p:nvSpPr>
          <p:cNvPr id="180" name="Google Shape;180;p12"/>
          <p:cNvSpPr txBox="1"/>
          <p:nvPr/>
        </p:nvSpPr>
        <p:spPr>
          <a:xfrm>
            <a:off x="11484904" y="2790021"/>
            <a:ext cx="4197282" cy="716482"/>
          </a:xfrm>
          <a:prstGeom prst="rect">
            <a:avLst/>
          </a:prstGeom>
          <a:noFill/>
          <a:ln>
            <a:noFill/>
          </a:ln>
        </p:spPr>
        <p:txBody>
          <a:bodyPr anchorCtr="0" anchor="t" bIns="0" lIns="0" spcFirstLastPara="1" rIns="0" wrap="square" tIns="0">
            <a:spAutoFit/>
          </a:bodyPr>
          <a:lstStyle/>
          <a:p>
            <a:pPr indent="0" lvl="0" marL="0" marR="0" rtl="0" algn="ctr">
              <a:lnSpc>
                <a:spcPct val="140009"/>
              </a:lnSpc>
              <a:spcBef>
                <a:spcPts val="0"/>
              </a:spcBef>
              <a:spcAft>
                <a:spcPts val="0"/>
              </a:spcAft>
              <a:buNone/>
            </a:pPr>
            <a:r>
              <a:rPr b="1" i="0" lang="en-US" sz="4204" u="none" cap="none" strike="noStrike">
                <a:solidFill>
                  <a:srgbClr val="FFFFFF"/>
                </a:solidFill>
                <a:latin typeface="Open Sans"/>
                <a:ea typeface="Open Sans"/>
                <a:cs typeface="Open Sans"/>
                <a:sym typeface="Open Sans"/>
              </a:rPr>
              <a:t>Frameworks IA</a:t>
            </a:r>
            <a:endParaRPr/>
          </a:p>
        </p:txBody>
      </p:sp>
      <p:sp>
        <p:nvSpPr>
          <p:cNvPr id="181" name="Google Shape;181;p12"/>
          <p:cNvSpPr txBox="1"/>
          <p:nvPr/>
        </p:nvSpPr>
        <p:spPr>
          <a:xfrm>
            <a:off x="209924" y="6287175"/>
            <a:ext cx="4197282" cy="716482"/>
          </a:xfrm>
          <a:prstGeom prst="rect">
            <a:avLst/>
          </a:prstGeom>
          <a:noFill/>
          <a:ln>
            <a:noFill/>
          </a:ln>
        </p:spPr>
        <p:txBody>
          <a:bodyPr anchorCtr="0" anchor="t" bIns="0" lIns="0" spcFirstLastPara="1" rIns="0" wrap="square" tIns="0">
            <a:spAutoFit/>
          </a:bodyPr>
          <a:lstStyle/>
          <a:p>
            <a:pPr indent="0" lvl="0" marL="0" marR="0" rtl="0" algn="ctr">
              <a:lnSpc>
                <a:spcPct val="140009"/>
              </a:lnSpc>
              <a:spcBef>
                <a:spcPts val="0"/>
              </a:spcBef>
              <a:spcAft>
                <a:spcPts val="0"/>
              </a:spcAft>
              <a:buNone/>
            </a:pPr>
            <a:r>
              <a:rPr b="1" i="0" lang="en-US" sz="4204" u="none" cap="none" strike="noStrike">
                <a:solidFill>
                  <a:srgbClr val="FFFFFF"/>
                </a:solidFill>
                <a:latin typeface="Open Sans"/>
                <a:ea typeface="Open Sans"/>
                <a:cs typeface="Open Sans"/>
                <a:sym typeface="Open Sans"/>
              </a:rPr>
              <a:t>Backend </a:t>
            </a:r>
            <a:endParaRPr/>
          </a:p>
        </p:txBody>
      </p:sp>
      <p:sp>
        <p:nvSpPr>
          <p:cNvPr id="182" name="Google Shape;182;p12"/>
          <p:cNvSpPr txBox="1"/>
          <p:nvPr/>
        </p:nvSpPr>
        <p:spPr>
          <a:xfrm>
            <a:off x="6666938" y="6382425"/>
            <a:ext cx="4197282" cy="716482"/>
          </a:xfrm>
          <a:prstGeom prst="rect">
            <a:avLst/>
          </a:prstGeom>
          <a:noFill/>
          <a:ln>
            <a:noFill/>
          </a:ln>
        </p:spPr>
        <p:txBody>
          <a:bodyPr anchorCtr="0" anchor="t" bIns="0" lIns="0" spcFirstLastPara="1" rIns="0" wrap="square" tIns="0">
            <a:spAutoFit/>
          </a:bodyPr>
          <a:lstStyle/>
          <a:p>
            <a:pPr indent="0" lvl="0" marL="0" marR="0" rtl="0" algn="ctr">
              <a:lnSpc>
                <a:spcPct val="140009"/>
              </a:lnSpc>
              <a:spcBef>
                <a:spcPts val="0"/>
              </a:spcBef>
              <a:spcAft>
                <a:spcPts val="0"/>
              </a:spcAft>
              <a:buNone/>
            </a:pPr>
            <a:r>
              <a:rPr b="1" i="0" lang="en-US" sz="4204" u="none" cap="none" strike="noStrike">
                <a:solidFill>
                  <a:srgbClr val="FFFFFF"/>
                </a:solidFill>
                <a:latin typeface="Open Sans"/>
                <a:ea typeface="Open Sans"/>
                <a:cs typeface="Open Sans"/>
                <a:sym typeface="Open Sans"/>
              </a:rPr>
              <a:t>Base de datos</a:t>
            </a:r>
            <a:endParaRPr/>
          </a:p>
        </p:txBody>
      </p:sp>
      <p:sp>
        <p:nvSpPr>
          <p:cNvPr id="183" name="Google Shape;183;p12"/>
          <p:cNvSpPr txBox="1"/>
          <p:nvPr/>
        </p:nvSpPr>
        <p:spPr>
          <a:xfrm>
            <a:off x="11083294" y="6382425"/>
            <a:ext cx="4197282" cy="716482"/>
          </a:xfrm>
          <a:prstGeom prst="rect">
            <a:avLst/>
          </a:prstGeom>
          <a:noFill/>
          <a:ln>
            <a:noFill/>
          </a:ln>
        </p:spPr>
        <p:txBody>
          <a:bodyPr anchorCtr="0" anchor="t" bIns="0" lIns="0" spcFirstLastPara="1" rIns="0" wrap="square" tIns="0">
            <a:spAutoFit/>
          </a:bodyPr>
          <a:lstStyle/>
          <a:p>
            <a:pPr indent="0" lvl="0" marL="0" marR="0" rtl="0" algn="ctr">
              <a:lnSpc>
                <a:spcPct val="140009"/>
              </a:lnSpc>
              <a:spcBef>
                <a:spcPts val="0"/>
              </a:spcBef>
              <a:spcAft>
                <a:spcPts val="0"/>
              </a:spcAft>
              <a:buNone/>
            </a:pPr>
            <a:r>
              <a:rPr b="1" i="0" lang="en-US" sz="4204" u="none" cap="none" strike="noStrike">
                <a:solidFill>
                  <a:srgbClr val="FFFFFF"/>
                </a:solidFill>
                <a:latin typeface="Open Sans"/>
                <a:ea typeface="Open Sans"/>
                <a:cs typeface="Open Sans"/>
                <a:sym typeface="Open Sans"/>
              </a:rPr>
              <a:t>Mensajería</a:t>
            </a:r>
            <a:endParaRPr/>
          </a:p>
        </p:txBody>
      </p:sp>
      <p:sp>
        <p:nvSpPr>
          <p:cNvPr id="184" name="Google Shape;184;p12"/>
          <p:cNvSpPr/>
          <p:nvPr/>
        </p:nvSpPr>
        <p:spPr>
          <a:xfrm>
            <a:off x="13076371" y="-163958"/>
            <a:ext cx="5211629" cy="1895138"/>
          </a:xfrm>
          <a:custGeom>
            <a:rect b="b" l="l" r="r" t="t"/>
            <a:pathLst>
              <a:path extrusionOk="0" h="1895138" w="5211629">
                <a:moveTo>
                  <a:pt x="0" y="0"/>
                </a:moveTo>
                <a:lnTo>
                  <a:pt x="5211629" y="0"/>
                </a:lnTo>
                <a:lnTo>
                  <a:pt x="5211629" y="1895138"/>
                </a:lnTo>
                <a:lnTo>
                  <a:pt x="0" y="1895138"/>
                </a:lnTo>
                <a:lnTo>
                  <a:pt x="0" y="0"/>
                </a:lnTo>
                <a:close/>
              </a:path>
            </a:pathLst>
          </a:custGeom>
          <a:blipFill rotWithShape="1">
            <a:blip r:embed="rId9">
              <a:alphaModFix/>
            </a:blip>
            <a:stretch>
              <a:fillRect b="0" l="0" r="0" t="0"/>
            </a:stretch>
          </a:blipFill>
          <a:ln>
            <a:noFill/>
          </a:ln>
        </p:spPr>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757"/>
        </a:solidFill>
      </p:bgPr>
    </p:bg>
    <p:spTree>
      <p:nvGrpSpPr>
        <p:cNvPr id="188" name="Shape 188"/>
        <p:cNvGrpSpPr/>
        <p:nvPr/>
      </p:nvGrpSpPr>
      <p:grpSpPr>
        <a:xfrm>
          <a:off x="0" y="0"/>
          <a:ext cx="0" cy="0"/>
          <a:chOff x="0" y="0"/>
          <a:chExt cx="0" cy="0"/>
        </a:xfrm>
      </p:grpSpPr>
      <p:sp>
        <p:nvSpPr>
          <p:cNvPr id="189" name="Google Shape;189;p13"/>
          <p:cNvSpPr/>
          <p:nvPr/>
        </p:nvSpPr>
        <p:spPr>
          <a:xfrm>
            <a:off x="511947" y="5435944"/>
            <a:ext cx="5705876" cy="1814846"/>
          </a:xfrm>
          <a:custGeom>
            <a:rect b="b" l="l" r="r" t="t"/>
            <a:pathLst>
              <a:path extrusionOk="0" h="1814846" w="5705876">
                <a:moveTo>
                  <a:pt x="0" y="0"/>
                </a:moveTo>
                <a:lnTo>
                  <a:pt x="5705875" y="0"/>
                </a:lnTo>
                <a:lnTo>
                  <a:pt x="5705875" y="1814846"/>
                </a:lnTo>
                <a:lnTo>
                  <a:pt x="0" y="1814846"/>
                </a:lnTo>
                <a:lnTo>
                  <a:pt x="0" y="0"/>
                </a:lnTo>
                <a:close/>
              </a:path>
            </a:pathLst>
          </a:custGeom>
          <a:blipFill rotWithShape="1">
            <a:blip r:embed="rId3">
              <a:alphaModFix/>
            </a:blip>
            <a:stretch>
              <a:fillRect b="0" l="0" r="0" t="0"/>
            </a:stretch>
          </a:blipFill>
          <a:ln>
            <a:noFill/>
          </a:ln>
        </p:spPr>
      </p:sp>
      <p:sp>
        <p:nvSpPr>
          <p:cNvPr id="190" name="Google Shape;190;p13"/>
          <p:cNvSpPr/>
          <p:nvPr/>
        </p:nvSpPr>
        <p:spPr>
          <a:xfrm>
            <a:off x="14307669" y="5445684"/>
            <a:ext cx="2414511" cy="1609674"/>
          </a:xfrm>
          <a:custGeom>
            <a:rect b="b" l="l" r="r" t="t"/>
            <a:pathLst>
              <a:path extrusionOk="0" h="1609674" w="2414511">
                <a:moveTo>
                  <a:pt x="0" y="0"/>
                </a:moveTo>
                <a:lnTo>
                  <a:pt x="2414511" y="0"/>
                </a:lnTo>
                <a:lnTo>
                  <a:pt x="2414511" y="1609674"/>
                </a:lnTo>
                <a:lnTo>
                  <a:pt x="0" y="1609674"/>
                </a:lnTo>
                <a:lnTo>
                  <a:pt x="0" y="0"/>
                </a:lnTo>
                <a:close/>
              </a:path>
            </a:pathLst>
          </a:custGeom>
          <a:blipFill rotWithShape="1">
            <a:blip r:embed="rId4">
              <a:alphaModFix/>
            </a:blip>
            <a:stretch>
              <a:fillRect b="0" l="0" r="0" t="0"/>
            </a:stretch>
          </a:blipFill>
          <a:ln>
            <a:noFill/>
          </a:ln>
        </p:spPr>
      </p:sp>
      <p:sp>
        <p:nvSpPr>
          <p:cNvPr id="191" name="Google Shape;191;p13"/>
          <p:cNvSpPr/>
          <p:nvPr/>
        </p:nvSpPr>
        <p:spPr>
          <a:xfrm>
            <a:off x="7367127" y="5264702"/>
            <a:ext cx="1971639" cy="1971639"/>
          </a:xfrm>
          <a:custGeom>
            <a:rect b="b" l="l" r="r" t="t"/>
            <a:pathLst>
              <a:path extrusionOk="0" h="1971639" w="1971639">
                <a:moveTo>
                  <a:pt x="0" y="0"/>
                </a:moveTo>
                <a:lnTo>
                  <a:pt x="1971639" y="0"/>
                </a:lnTo>
                <a:lnTo>
                  <a:pt x="1971639" y="1971638"/>
                </a:lnTo>
                <a:lnTo>
                  <a:pt x="0" y="1971638"/>
                </a:lnTo>
                <a:lnTo>
                  <a:pt x="0" y="0"/>
                </a:lnTo>
                <a:close/>
              </a:path>
            </a:pathLst>
          </a:custGeom>
          <a:blipFill rotWithShape="1">
            <a:blip r:embed="rId5">
              <a:alphaModFix/>
            </a:blip>
            <a:stretch>
              <a:fillRect b="0" l="0" r="0" t="0"/>
            </a:stretch>
          </a:blipFill>
          <a:ln>
            <a:noFill/>
          </a:ln>
        </p:spPr>
      </p:sp>
      <p:sp>
        <p:nvSpPr>
          <p:cNvPr id="192" name="Google Shape;192;p13"/>
          <p:cNvSpPr/>
          <p:nvPr/>
        </p:nvSpPr>
        <p:spPr>
          <a:xfrm>
            <a:off x="9472053" y="5264702"/>
            <a:ext cx="3248976" cy="1971639"/>
          </a:xfrm>
          <a:custGeom>
            <a:rect b="b" l="l" r="r" t="t"/>
            <a:pathLst>
              <a:path extrusionOk="0" h="1971639" w="3248976">
                <a:moveTo>
                  <a:pt x="0" y="0"/>
                </a:moveTo>
                <a:lnTo>
                  <a:pt x="3248976" y="0"/>
                </a:lnTo>
                <a:lnTo>
                  <a:pt x="3248976" y="1971638"/>
                </a:lnTo>
                <a:lnTo>
                  <a:pt x="0" y="1971638"/>
                </a:lnTo>
                <a:lnTo>
                  <a:pt x="0" y="0"/>
                </a:lnTo>
                <a:close/>
              </a:path>
            </a:pathLst>
          </a:custGeom>
          <a:blipFill rotWithShape="1">
            <a:blip r:embed="rId6">
              <a:alphaModFix/>
            </a:blip>
            <a:stretch>
              <a:fillRect b="-19226" l="0" r="0" t="-8073"/>
            </a:stretch>
          </a:blipFill>
          <a:ln>
            <a:noFill/>
          </a:ln>
        </p:spPr>
      </p:sp>
      <p:sp>
        <p:nvSpPr>
          <p:cNvPr id="193" name="Google Shape;193;p13"/>
          <p:cNvSpPr txBox="1"/>
          <p:nvPr/>
        </p:nvSpPr>
        <p:spPr>
          <a:xfrm>
            <a:off x="753959" y="1068985"/>
            <a:ext cx="11382900" cy="7905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b="1" i="0" lang="en-US" sz="5136" u="none" cap="none" strike="noStrike">
                <a:solidFill>
                  <a:srgbClr val="FFFFFF"/>
                </a:solidFill>
                <a:latin typeface="Roboto"/>
                <a:ea typeface="Roboto"/>
                <a:cs typeface="Roboto"/>
                <a:sym typeface="Roboto"/>
              </a:rPr>
              <a:t>TECNOLOGÍAS QUE UTILIZAMOS </a:t>
            </a:r>
            <a:endParaRPr b="1">
              <a:latin typeface="Roboto"/>
              <a:ea typeface="Roboto"/>
              <a:cs typeface="Roboto"/>
              <a:sym typeface="Roboto"/>
            </a:endParaRPr>
          </a:p>
        </p:txBody>
      </p:sp>
      <p:sp>
        <p:nvSpPr>
          <p:cNvPr id="194" name="Google Shape;194;p13"/>
          <p:cNvSpPr txBox="1"/>
          <p:nvPr/>
        </p:nvSpPr>
        <p:spPr>
          <a:xfrm>
            <a:off x="1573570" y="3528745"/>
            <a:ext cx="2968192" cy="77558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4530" u="none" cap="none" strike="noStrike">
                <a:solidFill>
                  <a:srgbClr val="FFFFFF"/>
                </a:solidFill>
                <a:latin typeface="Open Sans"/>
                <a:ea typeface="Open Sans"/>
                <a:cs typeface="Open Sans"/>
                <a:sym typeface="Open Sans"/>
              </a:rPr>
              <a:t>PACS</a:t>
            </a:r>
            <a:endParaRPr/>
          </a:p>
        </p:txBody>
      </p:sp>
      <p:sp>
        <p:nvSpPr>
          <p:cNvPr id="195" name="Google Shape;195;p13"/>
          <p:cNvSpPr txBox="1"/>
          <p:nvPr/>
        </p:nvSpPr>
        <p:spPr>
          <a:xfrm>
            <a:off x="7944619" y="3528745"/>
            <a:ext cx="4522258" cy="77558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4530" u="none" cap="none" strike="noStrike">
                <a:solidFill>
                  <a:srgbClr val="FFFFFF"/>
                </a:solidFill>
                <a:latin typeface="Open Sans"/>
                <a:ea typeface="Open Sans"/>
                <a:cs typeface="Open Sans"/>
                <a:sym typeface="Open Sans"/>
              </a:rPr>
              <a:t>Frontend</a:t>
            </a:r>
            <a:endParaRPr/>
          </a:p>
        </p:txBody>
      </p:sp>
      <p:sp>
        <p:nvSpPr>
          <p:cNvPr id="196" name="Google Shape;196;p13"/>
          <p:cNvSpPr txBox="1"/>
          <p:nvPr/>
        </p:nvSpPr>
        <p:spPr>
          <a:xfrm>
            <a:off x="13253795" y="3528745"/>
            <a:ext cx="4522258" cy="77558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4530" u="none" cap="none" strike="noStrike">
                <a:solidFill>
                  <a:srgbClr val="FFFFFF"/>
                </a:solidFill>
                <a:latin typeface="Open Sans"/>
                <a:ea typeface="Open Sans"/>
                <a:cs typeface="Open Sans"/>
                <a:sym typeface="Open Sans"/>
              </a:rPr>
              <a:t>Gestión</a:t>
            </a:r>
            <a:endParaRPr/>
          </a:p>
        </p:txBody>
      </p:sp>
      <p:sp>
        <p:nvSpPr>
          <p:cNvPr id="197" name="Google Shape;197;p13"/>
          <p:cNvSpPr/>
          <p:nvPr/>
        </p:nvSpPr>
        <p:spPr>
          <a:xfrm>
            <a:off x="13076371" y="0"/>
            <a:ext cx="5211629" cy="1895138"/>
          </a:xfrm>
          <a:custGeom>
            <a:rect b="b" l="l" r="r" t="t"/>
            <a:pathLst>
              <a:path extrusionOk="0" h="1895138" w="5211629">
                <a:moveTo>
                  <a:pt x="0" y="0"/>
                </a:moveTo>
                <a:lnTo>
                  <a:pt x="5211629" y="0"/>
                </a:lnTo>
                <a:lnTo>
                  <a:pt x="5211629" y="1895138"/>
                </a:lnTo>
                <a:lnTo>
                  <a:pt x="0" y="1895138"/>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757"/>
        </a:solidFill>
      </p:bgPr>
    </p:bg>
    <p:spTree>
      <p:nvGrpSpPr>
        <p:cNvPr id="201" name="Shape 201"/>
        <p:cNvGrpSpPr/>
        <p:nvPr/>
      </p:nvGrpSpPr>
      <p:grpSpPr>
        <a:xfrm>
          <a:off x="0" y="0"/>
          <a:ext cx="0" cy="0"/>
          <a:chOff x="0" y="0"/>
          <a:chExt cx="0" cy="0"/>
        </a:xfrm>
      </p:grpSpPr>
      <p:sp>
        <p:nvSpPr>
          <p:cNvPr id="202" name="Google Shape;202;p14"/>
          <p:cNvSpPr/>
          <p:nvPr/>
        </p:nvSpPr>
        <p:spPr>
          <a:xfrm>
            <a:off x="13228771" y="152400"/>
            <a:ext cx="5211629" cy="1895138"/>
          </a:xfrm>
          <a:custGeom>
            <a:rect b="b" l="l" r="r" t="t"/>
            <a:pathLst>
              <a:path extrusionOk="0" h="1895138" w="5211629">
                <a:moveTo>
                  <a:pt x="0" y="0"/>
                </a:moveTo>
                <a:lnTo>
                  <a:pt x="5211629" y="0"/>
                </a:lnTo>
                <a:lnTo>
                  <a:pt x="5211629" y="1895138"/>
                </a:lnTo>
                <a:lnTo>
                  <a:pt x="0" y="1895138"/>
                </a:lnTo>
                <a:lnTo>
                  <a:pt x="0" y="0"/>
                </a:lnTo>
                <a:close/>
              </a:path>
            </a:pathLst>
          </a:custGeom>
          <a:blipFill rotWithShape="1">
            <a:blip r:embed="rId3">
              <a:alphaModFix/>
            </a:blip>
            <a:stretch>
              <a:fillRect b="0" l="0" r="0" t="0"/>
            </a:stretch>
          </a:blipFill>
          <a:ln>
            <a:noFill/>
          </a:ln>
        </p:spPr>
      </p:sp>
      <p:sp>
        <p:nvSpPr>
          <p:cNvPr id="203" name="Google Shape;203;p14"/>
          <p:cNvSpPr/>
          <p:nvPr/>
        </p:nvSpPr>
        <p:spPr>
          <a:xfrm>
            <a:off x="-141377" y="-9862"/>
            <a:ext cx="4103110" cy="4114800"/>
          </a:xfrm>
          <a:custGeom>
            <a:rect b="b" l="l" r="r" t="t"/>
            <a:pathLst>
              <a:path extrusionOk="0" h="4114800" w="4103110">
                <a:moveTo>
                  <a:pt x="0" y="0"/>
                </a:moveTo>
                <a:lnTo>
                  <a:pt x="4103111" y="0"/>
                </a:lnTo>
                <a:lnTo>
                  <a:pt x="4103111" y="4114800"/>
                </a:lnTo>
                <a:lnTo>
                  <a:pt x="0" y="4114800"/>
                </a:lnTo>
                <a:lnTo>
                  <a:pt x="0" y="0"/>
                </a:lnTo>
                <a:close/>
              </a:path>
            </a:pathLst>
          </a:custGeom>
          <a:blipFill rotWithShape="1">
            <a:blip r:embed="rId4">
              <a:alphaModFix/>
            </a:blip>
            <a:stretch>
              <a:fillRect b="0" l="0" r="0" t="0"/>
            </a:stretch>
          </a:blipFill>
          <a:ln>
            <a:noFill/>
          </a:ln>
        </p:spPr>
      </p:sp>
      <p:sp>
        <p:nvSpPr>
          <p:cNvPr id="204" name="Google Shape;204;p14"/>
          <p:cNvSpPr txBox="1"/>
          <p:nvPr/>
        </p:nvSpPr>
        <p:spPr>
          <a:xfrm>
            <a:off x="2226407" y="4328130"/>
            <a:ext cx="13466428" cy="1131689"/>
          </a:xfrm>
          <a:prstGeom prst="rect">
            <a:avLst/>
          </a:prstGeom>
          <a:noFill/>
          <a:ln>
            <a:noFill/>
          </a:ln>
        </p:spPr>
        <p:txBody>
          <a:bodyPr anchorCtr="0" anchor="t" bIns="0" lIns="0" spcFirstLastPara="1" rIns="0" wrap="square" tIns="0">
            <a:spAutoFit/>
          </a:bodyPr>
          <a:lstStyle/>
          <a:p>
            <a:pPr indent="0" lvl="0" marL="0" marR="0" rtl="0" algn="l">
              <a:lnSpc>
                <a:spcPct val="140009"/>
              </a:lnSpc>
              <a:spcBef>
                <a:spcPts val="0"/>
              </a:spcBef>
              <a:spcAft>
                <a:spcPts val="0"/>
              </a:spcAft>
              <a:buNone/>
            </a:pPr>
            <a:r>
              <a:rPr b="1" i="0" lang="en-US" sz="6236" u="none" cap="none" strike="noStrike">
                <a:solidFill>
                  <a:srgbClr val="FFFFFF"/>
                </a:solidFill>
                <a:latin typeface="Arial"/>
                <a:ea typeface="Arial"/>
                <a:cs typeface="Arial"/>
                <a:sym typeface="Arial"/>
              </a:rPr>
              <a:t>DEMOSTRACIÓN DEL PROYECTO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757"/>
        </a:solidFill>
      </p:bgPr>
    </p:bg>
    <p:spTree>
      <p:nvGrpSpPr>
        <p:cNvPr id="208" name="Shape 208"/>
        <p:cNvGrpSpPr/>
        <p:nvPr/>
      </p:nvGrpSpPr>
      <p:grpSpPr>
        <a:xfrm>
          <a:off x="0" y="0"/>
          <a:ext cx="0" cy="0"/>
          <a:chOff x="0" y="0"/>
          <a:chExt cx="0" cy="0"/>
        </a:xfrm>
      </p:grpSpPr>
      <p:sp>
        <p:nvSpPr>
          <p:cNvPr id="209" name="Google Shape;209;p15"/>
          <p:cNvSpPr txBox="1"/>
          <p:nvPr/>
        </p:nvSpPr>
        <p:spPr>
          <a:xfrm>
            <a:off x="3158747" y="4388456"/>
            <a:ext cx="13466400" cy="960000"/>
          </a:xfrm>
          <a:prstGeom prst="rect">
            <a:avLst/>
          </a:prstGeom>
          <a:noFill/>
          <a:ln>
            <a:noFill/>
          </a:ln>
        </p:spPr>
        <p:txBody>
          <a:bodyPr anchorCtr="0" anchor="t" bIns="0" lIns="0" spcFirstLastPara="1" rIns="0" wrap="square" tIns="0">
            <a:spAutoFit/>
          </a:bodyPr>
          <a:lstStyle/>
          <a:p>
            <a:pPr indent="0" lvl="0" marL="0" marR="0" rtl="0" algn="ctr">
              <a:lnSpc>
                <a:spcPct val="140009"/>
              </a:lnSpc>
              <a:spcBef>
                <a:spcPts val="0"/>
              </a:spcBef>
              <a:spcAft>
                <a:spcPts val="0"/>
              </a:spcAft>
              <a:buNone/>
            </a:pPr>
            <a:r>
              <a:rPr b="1" i="0" lang="en-US" sz="6236" u="none" cap="none" strike="noStrike">
                <a:solidFill>
                  <a:srgbClr val="FFFFFF"/>
                </a:solidFill>
                <a:latin typeface="Roboto"/>
                <a:ea typeface="Roboto"/>
                <a:cs typeface="Roboto"/>
                <a:sym typeface="Roboto"/>
              </a:rPr>
              <a:t>RESULTADOS OBTENIDOS</a:t>
            </a:r>
            <a:endParaRPr b="1">
              <a:latin typeface="Roboto"/>
              <a:ea typeface="Roboto"/>
              <a:cs typeface="Roboto"/>
              <a:sym typeface="Roboto"/>
            </a:endParaRPr>
          </a:p>
        </p:txBody>
      </p:sp>
      <p:sp>
        <p:nvSpPr>
          <p:cNvPr id="210" name="Google Shape;210;p15"/>
          <p:cNvSpPr/>
          <p:nvPr/>
        </p:nvSpPr>
        <p:spPr>
          <a:xfrm>
            <a:off x="12923270" y="-198891"/>
            <a:ext cx="5211629" cy="1895138"/>
          </a:xfrm>
          <a:custGeom>
            <a:rect b="b" l="l" r="r" t="t"/>
            <a:pathLst>
              <a:path extrusionOk="0" h="1895138" w="5211629">
                <a:moveTo>
                  <a:pt x="0" y="0"/>
                </a:moveTo>
                <a:lnTo>
                  <a:pt x="5211629" y="0"/>
                </a:lnTo>
                <a:lnTo>
                  <a:pt x="5211629" y="1895137"/>
                </a:lnTo>
                <a:lnTo>
                  <a:pt x="0" y="1895137"/>
                </a:lnTo>
                <a:lnTo>
                  <a:pt x="0" y="0"/>
                </a:lnTo>
                <a:close/>
              </a:path>
            </a:pathLst>
          </a:custGeom>
          <a:blipFill rotWithShape="1">
            <a:blip r:embed="rId3">
              <a:alphaModFix/>
            </a:blip>
            <a:stretch>
              <a:fillRect b="0" l="0" r="0" t="0"/>
            </a:stretch>
          </a:blipFill>
          <a:ln>
            <a:noFill/>
          </a:ln>
        </p:spPr>
      </p:sp>
      <p:sp>
        <p:nvSpPr>
          <p:cNvPr id="211" name="Google Shape;211;p15"/>
          <p:cNvSpPr/>
          <p:nvPr/>
        </p:nvSpPr>
        <p:spPr>
          <a:xfrm>
            <a:off x="-172137" y="-88879"/>
            <a:ext cx="4059862" cy="6089793"/>
          </a:xfrm>
          <a:custGeom>
            <a:rect b="b" l="l" r="r" t="t"/>
            <a:pathLst>
              <a:path extrusionOk="0" h="6089793" w="4059862">
                <a:moveTo>
                  <a:pt x="0" y="0"/>
                </a:moveTo>
                <a:lnTo>
                  <a:pt x="4059862" y="0"/>
                </a:lnTo>
                <a:lnTo>
                  <a:pt x="4059862" y="6089793"/>
                </a:lnTo>
                <a:lnTo>
                  <a:pt x="0" y="6089793"/>
                </a:lnTo>
                <a:lnTo>
                  <a:pt x="0" y="0"/>
                </a:lnTo>
                <a:close/>
              </a:path>
            </a:pathLst>
          </a:custGeom>
          <a:blipFill rotWithShape="1">
            <a:blip r:embed="rId4">
              <a:alphaModFix/>
            </a:blip>
            <a:stretch>
              <a:fillRect b="0" l="0" r="0" t="0"/>
            </a:stretch>
          </a:blipFill>
          <a:ln>
            <a:noFill/>
          </a:ln>
        </p:spPr>
      </p:sp>
      <p:sp>
        <p:nvSpPr>
          <p:cNvPr id="212" name="Google Shape;212;p15"/>
          <p:cNvSpPr/>
          <p:nvPr/>
        </p:nvSpPr>
        <p:spPr>
          <a:xfrm>
            <a:off x="14259985" y="5547450"/>
            <a:ext cx="4028015" cy="4739550"/>
          </a:xfrm>
          <a:custGeom>
            <a:rect b="b" l="l" r="r" t="t"/>
            <a:pathLst>
              <a:path extrusionOk="0" h="4739550" w="4028015">
                <a:moveTo>
                  <a:pt x="0" y="0"/>
                </a:moveTo>
                <a:lnTo>
                  <a:pt x="4028015" y="0"/>
                </a:lnTo>
                <a:lnTo>
                  <a:pt x="4028015" y="4739550"/>
                </a:lnTo>
                <a:lnTo>
                  <a:pt x="0" y="4739550"/>
                </a:lnTo>
                <a:lnTo>
                  <a:pt x="0" y="0"/>
                </a:lnTo>
                <a:close/>
              </a:path>
            </a:pathLst>
          </a:custGeom>
          <a:blipFill rotWithShape="1">
            <a:blip r:embed="rId5">
              <a:alphaModFix/>
            </a:blip>
            <a:stretch>
              <a:fillRect b="0" l="0" r="0" t="0"/>
            </a:stretch>
          </a:blipFill>
          <a:ln>
            <a:noFill/>
          </a:ln>
        </p:spPr>
      </p:sp>
      <p:sp>
        <p:nvSpPr>
          <p:cNvPr id="213" name="Google Shape;213;p15"/>
          <p:cNvSpPr/>
          <p:nvPr/>
        </p:nvSpPr>
        <p:spPr>
          <a:xfrm>
            <a:off x="8467920" y="5614094"/>
            <a:ext cx="1829216" cy="2057400"/>
          </a:xfrm>
          <a:custGeom>
            <a:rect b="b" l="l" r="r" t="t"/>
            <a:pathLst>
              <a:path extrusionOk="0" h="2057400" w="1829216">
                <a:moveTo>
                  <a:pt x="0" y="0"/>
                </a:moveTo>
                <a:lnTo>
                  <a:pt x="1829216" y="0"/>
                </a:lnTo>
                <a:lnTo>
                  <a:pt x="1829216" y="2057400"/>
                </a:lnTo>
                <a:lnTo>
                  <a:pt x="0" y="2057400"/>
                </a:lnTo>
                <a:lnTo>
                  <a:pt x="0" y="0"/>
                </a:lnTo>
                <a:close/>
              </a:path>
            </a:pathLst>
          </a:custGeom>
          <a:blipFill rotWithShape="1">
            <a:blip r:embed="rId6">
              <a:alphaModFix/>
            </a:blip>
            <a:stretch>
              <a:fillRect b="0" l="0" r="0" t="0"/>
            </a:stretch>
          </a:blipFill>
          <a:ln>
            <a:noFill/>
          </a:ln>
        </p:spPr>
      </p:sp>
      <p:sp>
        <p:nvSpPr>
          <p:cNvPr id="214" name="Google Shape;214;p15"/>
          <p:cNvSpPr txBox="1"/>
          <p:nvPr/>
        </p:nvSpPr>
        <p:spPr>
          <a:xfrm>
            <a:off x="9681050" y="3133075"/>
            <a:ext cx="86619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757"/>
        </a:solidFill>
      </p:bgPr>
    </p:bg>
    <p:spTree>
      <p:nvGrpSpPr>
        <p:cNvPr id="218" name="Shape 218"/>
        <p:cNvGrpSpPr/>
        <p:nvPr/>
      </p:nvGrpSpPr>
      <p:grpSpPr>
        <a:xfrm>
          <a:off x="0" y="0"/>
          <a:ext cx="0" cy="0"/>
          <a:chOff x="0" y="0"/>
          <a:chExt cx="0" cy="0"/>
        </a:xfrm>
      </p:grpSpPr>
      <p:sp>
        <p:nvSpPr>
          <p:cNvPr id="219" name="Google Shape;219;p16"/>
          <p:cNvSpPr/>
          <p:nvPr/>
        </p:nvSpPr>
        <p:spPr>
          <a:xfrm>
            <a:off x="-324537" y="-241279"/>
            <a:ext cx="4059862" cy="6089793"/>
          </a:xfrm>
          <a:custGeom>
            <a:rect b="b" l="l" r="r" t="t"/>
            <a:pathLst>
              <a:path extrusionOk="0" h="6089793" w="4059862">
                <a:moveTo>
                  <a:pt x="0" y="0"/>
                </a:moveTo>
                <a:lnTo>
                  <a:pt x="4059862" y="0"/>
                </a:lnTo>
                <a:lnTo>
                  <a:pt x="4059862" y="6089793"/>
                </a:lnTo>
                <a:lnTo>
                  <a:pt x="0" y="6089793"/>
                </a:lnTo>
                <a:lnTo>
                  <a:pt x="0" y="0"/>
                </a:lnTo>
                <a:close/>
              </a:path>
            </a:pathLst>
          </a:custGeom>
          <a:blipFill rotWithShape="1">
            <a:blip r:embed="rId3">
              <a:alphaModFix/>
            </a:blip>
            <a:stretch>
              <a:fillRect b="0" l="0" r="0" t="0"/>
            </a:stretch>
          </a:blipFill>
          <a:ln>
            <a:noFill/>
          </a:ln>
        </p:spPr>
      </p:sp>
      <p:sp>
        <p:nvSpPr>
          <p:cNvPr id="220" name="Google Shape;220;p16"/>
          <p:cNvSpPr/>
          <p:nvPr/>
        </p:nvSpPr>
        <p:spPr>
          <a:xfrm>
            <a:off x="12017330" y="4184982"/>
            <a:ext cx="3257136" cy="2706384"/>
          </a:xfrm>
          <a:custGeom>
            <a:rect b="b" l="l" r="r" t="t"/>
            <a:pathLst>
              <a:path extrusionOk="0" h="2706384" w="3257136">
                <a:moveTo>
                  <a:pt x="0" y="0"/>
                </a:moveTo>
                <a:lnTo>
                  <a:pt x="3257136" y="0"/>
                </a:lnTo>
                <a:lnTo>
                  <a:pt x="3257136" y="2706384"/>
                </a:lnTo>
                <a:lnTo>
                  <a:pt x="0" y="2706384"/>
                </a:lnTo>
                <a:lnTo>
                  <a:pt x="0" y="0"/>
                </a:lnTo>
                <a:close/>
              </a:path>
            </a:pathLst>
          </a:custGeom>
          <a:blipFill rotWithShape="1">
            <a:blip r:embed="rId4">
              <a:alphaModFix/>
            </a:blip>
            <a:stretch>
              <a:fillRect b="0" l="0" r="0" t="0"/>
            </a:stretch>
          </a:blipFill>
          <a:ln>
            <a:noFill/>
          </a:ln>
        </p:spPr>
      </p:sp>
      <p:sp>
        <p:nvSpPr>
          <p:cNvPr id="221" name="Google Shape;221;p16"/>
          <p:cNvSpPr/>
          <p:nvPr/>
        </p:nvSpPr>
        <p:spPr>
          <a:xfrm>
            <a:off x="13143875" y="6108173"/>
            <a:ext cx="1722081" cy="2265896"/>
          </a:xfrm>
          <a:custGeom>
            <a:rect b="b" l="l" r="r" t="t"/>
            <a:pathLst>
              <a:path extrusionOk="0" h="2265896" w="1722081">
                <a:moveTo>
                  <a:pt x="0" y="0"/>
                </a:moveTo>
                <a:lnTo>
                  <a:pt x="1722081" y="0"/>
                </a:lnTo>
                <a:lnTo>
                  <a:pt x="1722081" y="2265896"/>
                </a:lnTo>
                <a:lnTo>
                  <a:pt x="0" y="2265896"/>
                </a:lnTo>
                <a:lnTo>
                  <a:pt x="0" y="0"/>
                </a:lnTo>
                <a:close/>
              </a:path>
            </a:pathLst>
          </a:custGeom>
          <a:blipFill rotWithShape="1">
            <a:blip r:embed="rId5">
              <a:alphaModFix/>
            </a:blip>
            <a:stretch>
              <a:fillRect b="0" l="0" r="0" t="0"/>
            </a:stretch>
          </a:blipFill>
          <a:ln>
            <a:noFill/>
          </a:ln>
        </p:spPr>
      </p:sp>
      <p:sp>
        <p:nvSpPr>
          <p:cNvPr id="222" name="Google Shape;222;p16"/>
          <p:cNvSpPr txBox="1"/>
          <p:nvPr/>
        </p:nvSpPr>
        <p:spPr>
          <a:xfrm>
            <a:off x="2410786" y="5436124"/>
            <a:ext cx="8651615" cy="3543318"/>
          </a:xfrm>
          <a:prstGeom prst="rect">
            <a:avLst/>
          </a:prstGeom>
          <a:noFill/>
          <a:ln>
            <a:noFill/>
          </a:ln>
        </p:spPr>
        <p:txBody>
          <a:bodyPr anchorCtr="0" anchor="t" bIns="0" lIns="0" spcFirstLastPara="1" rIns="0" wrap="square" tIns="0">
            <a:spAutoFit/>
          </a:bodyPr>
          <a:lstStyle/>
          <a:p>
            <a:pPr indent="-360637" lvl="1" marL="721275" marR="0" rtl="0" algn="l">
              <a:lnSpc>
                <a:spcPct val="140029"/>
              </a:lnSpc>
              <a:spcBef>
                <a:spcPts val="0"/>
              </a:spcBef>
              <a:spcAft>
                <a:spcPts val="0"/>
              </a:spcAft>
              <a:buClr>
                <a:srgbClr val="FFFFFF"/>
              </a:buClr>
              <a:buSzPts val="3340"/>
              <a:buFont typeface="Arial"/>
              <a:buChar char="•"/>
            </a:pPr>
            <a:r>
              <a:rPr b="1" i="0" lang="en-US" sz="3340" u="none" cap="none" strike="noStrike">
                <a:solidFill>
                  <a:srgbClr val="FFFFFF"/>
                </a:solidFill>
                <a:latin typeface="Open Sans"/>
                <a:ea typeface="Open Sans"/>
                <a:cs typeface="Open Sans"/>
                <a:sym typeface="Open Sans"/>
              </a:rPr>
              <a:t>Reorganización del tablero de jira</a:t>
            </a:r>
            <a:endParaRPr/>
          </a:p>
          <a:p>
            <a:pPr indent="-360637" lvl="1" marL="721275" marR="0" rtl="0" algn="l">
              <a:lnSpc>
                <a:spcPct val="140029"/>
              </a:lnSpc>
              <a:spcBef>
                <a:spcPts val="0"/>
              </a:spcBef>
              <a:spcAft>
                <a:spcPts val="0"/>
              </a:spcAft>
              <a:buClr>
                <a:srgbClr val="FFFFFF"/>
              </a:buClr>
              <a:buSzPts val="3340"/>
              <a:buFont typeface="Arial"/>
              <a:buChar char="•"/>
            </a:pPr>
            <a:r>
              <a:rPr b="1" i="0" lang="en-US" sz="3340" u="none" cap="none" strike="noStrike">
                <a:solidFill>
                  <a:srgbClr val="FFFFFF"/>
                </a:solidFill>
                <a:latin typeface="Open Sans"/>
                <a:ea typeface="Open Sans"/>
                <a:cs typeface="Open Sans"/>
                <a:sym typeface="Open Sans"/>
              </a:rPr>
              <a:t>Limitaciones de tiempo (muy reducido)</a:t>
            </a:r>
            <a:endParaRPr/>
          </a:p>
          <a:p>
            <a:pPr indent="-360637" lvl="1" marL="721275" marR="0" rtl="0" algn="l">
              <a:lnSpc>
                <a:spcPct val="140029"/>
              </a:lnSpc>
              <a:spcBef>
                <a:spcPts val="0"/>
              </a:spcBef>
              <a:spcAft>
                <a:spcPts val="0"/>
              </a:spcAft>
              <a:buClr>
                <a:srgbClr val="FFFFFF"/>
              </a:buClr>
              <a:buSzPts val="3340"/>
              <a:buFont typeface="Arial"/>
              <a:buChar char="•"/>
            </a:pPr>
            <a:r>
              <a:rPr b="1" i="0" lang="en-US" sz="3340" u="none" cap="none" strike="noStrike">
                <a:solidFill>
                  <a:srgbClr val="FFFFFF"/>
                </a:solidFill>
                <a:latin typeface="Open Sans"/>
                <a:ea typeface="Open Sans"/>
                <a:cs typeface="Open Sans"/>
                <a:sym typeface="Open Sans"/>
              </a:rPr>
              <a:t>Alta complejidad técnica del proyecto</a:t>
            </a:r>
            <a:endParaRPr/>
          </a:p>
          <a:p>
            <a:pPr indent="0" lvl="0" marL="0" marR="0" rtl="0" algn="l">
              <a:lnSpc>
                <a:spcPct val="140029"/>
              </a:lnSpc>
              <a:spcBef>
                <a:spcPts val="0"/>
              </a:spcBef>
              <a:spcAft>
                <a:spcPts val="0"/>
              </a:spcAft>
              <a:buNone/>
            </a:pPr>
            <a:r>
              <a:t/>
            </a:r>
            <a:endParaRPr b="1" i="0" sz="3340" u="none" cap="none" strike="noStrike">
              <a:solidFill>
                <a:srgbClr val="FFFFFF"/>
              </a:solidFill>
              <a:latin typeface="Open Sans"/>
              <a:ea typeface="Open Sans"/>
              <a:cs typeface="Open Sans"/>
              <a:sym typeface="Open Sans"/>
            </a:endParaRPr>
          </a:p>
        </p:txBody>
      </p:sp>
      <p:sp>
        <p:nvSpPr>
          <p:cNvPr id="223" name="Google Shape;223;p16"/>
          <p:cNvSpPr/>
          <p:nvPr/>
        </p:nvSpPr>
        <p:spPr>
          <a:xfrm>
            <a:off x="11062402" y="6962263"/>
            <a:ext cx="2093299" cy="2017179"/>
          </a:xfrm>
          <a:custGeom>
            <a:rect b="b" l="l" r="r" t="t"/>
            <a:pathLst>
              <a:path extrusionOk="0" h="2017179" w="2093299">
                <a:moveTo>
                  <a:pt x="0" y="0"/>
                </a:moveTo>
                <a:lnTo>
                  <a:pt x="2093299" y="0"/>
                </a:lnTo>
                <a:lnTo>
                  <a:pt x="2093299" y="2017179"/>
                </a:lnTo>
                <a:lnTo>
                  <a:pt x="0" y="2017179"/>
                </a:lnTo>
                <a:lnTo>
                  <a:pt x="0" y="0"/>
                </a:lnTo>
                <a:close/>
              </a:path>
            </a:pathLst>
          </a:custGeom>
          <a:blipFill rotWithShape="1">
            <a:blip r:embed="rId6">
              <a:alphaModFix/>
            </a:blip>
            <a:stretch>
              <a:fillRect b="0" l="0" r="0" t="0"/>
            </a:stretch>
          </a:blipFill>
          <a:ln>
            <a:noFill/>
          </a:ln>
        </p:spPr>
      </p:sp>
      <p:sp>
        <p:nvSpPr>
          <p:cNvPr id="224" name="Google Shape;224;p16"/>
          <p:cNvSpPr txBox="1"/>
          <p:nvPr/>
        </p:nvSpPr>
        <p:spPr>
          <a:xfrm>
            <a:off x="2868687" y="1479262"/>
            <a:ext cx="13466400" cy="3647700"/>
          </a:xfrm>
          <a:prstGeom prst="rect">
            <a:avLst/>
          </a:prstGeom>
          <a:noFill/>
          <a:ln>
            <a:noFill/>
          </a:ln>
        </p:spPr>
        <p:txBody>
          <a:bodyPr anchorCtr="0" anchor="t" bIns="0" lIns="0" spcFirstLastPara="1" rIns="0" wrap="square" tIns="0">
            <a:spAutoFit/>
          </a:bodyPr>
          <a:lstStyle/>
          <a:p>
            <a:pPr indent="0" lvl="0" marL="0" marR="0" rtl="0" algn="ctr">
              <a:lnSpc>
                <a:spcPct val="140009"/>
              </a:lnSpc>
              <a:spcBef>
                <a:spcPts val="0"/>
              </a:spcBef>
              <a:spcAft>
                <a:spcPts val="0"/>
              </a:spcAft>
              <a:buNone/>
            </a:pPr>
            <a:r>
              <a:rPr b="1" i="0" lang="en-US" sz="6236" u="none" cap="none" strike="noStrike">
                <a:solidFill>
                  <a:srgbClr val="FFFFFF"/>
                </a:solidFill>
                <a:latin typeface="Roboto"/>
                <a:ea typeface="Roboto"/>
                <a:cs typeface="Roboto"/>
                <a:sym typeface="Roboto"/>
              </a:rPr>
              <a:t>OBSTÁCULOS PRESENTADOS DURANTE EL DESARROLLO</a:t>
            </a:r>
            <a:endParaRPr b="1">
              <a:latin typeface="Roboto"/>
              <a:ea typeface="Roboto"/>
              <a:cs typeface="Roboto"/>
              <a:sym typeface="Roboto"/>
            </a:endParaRPr>
          </a:p>
          <a:p>
            <a:pPr indent="0" lvl="0" marL="0" marR="0" rtl="0" algn="ctr">
              <a:lnSpc>
                <a:spcPct val="140009"/>
              </a:lnSpc>
              <a:spcBef>
                <a:spcPts val="0"/>
              </a:spcBef>
              <a:spcAft>
                <a:spcPts val="0"/>
              </a:spcAft>
              <a:buNone/>
            </a:pPr>
            <a:r>
              <a:t/>
            </a:r>
            <a:endParaRPr b="1" i="0" sz="6236" u="none" cap="none" strike="noStrike">
              <a:solidFill>
                <a:srgbClr val="FFFFFF"/>
              </a:solidFill>
              <a:latin typeface="Ultra"/>
              <a:ea typeface="Ultra"/>
              <a:cs typeface="Ultra"/>
              <a:sym typeface="Ultra"/>
            </a:endParaRPr>
          </a:p>
        </p:txBody>
      </p:sp>
      <p:sp>
        <p:nvSpPr>
          <p:cNvPr id="225" name="Google Shape;225;p16"/>
          <p:cNvSpPr/>
          <p:nvPr/>
        </p:nvSpPr>
        <p:spPr>
          <a:xfrm>
            <a:off x="13076371" y="-241279"/>
            <a:ext cx="5211629" cy="1895138"/>
          </a:xfrm>
          <a:custGeom>
            <a:rect b="b" l="l" r="r" t="t"/>
            <a:pathLst>
              <a:path extrusionOk="0" h="1895138" w="5211629">
                <a:moveTo>
                  <a:pt x="0" y="0"/>
                </a:moveTo>
                <a:lnTo>
                  <a:pt x="5211629" y="0"/>
                </a:lnTo>
                <a:lnTo>
                  <a:pt x="5211629" y="1895138"/>
                </a:lnTo>
                <a:lnTo>
                  <a:pt x="0" y="1895138"/>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757"/>
        </a:solidFill>
      </p:bgPr>
    </p:bg>
    <p:spTree>
      <p:nvGrpSpPr>
        <p:cNvPr id="229" name="Shape 229"/>
        <p:cNvGrpSpPr/>
        <p:nvPr/>
      </p:nvGrpSpPr>
      <p:grpSpPr>
        <a:xfrm>
          <a:off x="0" y="0"/>
          <a:ext cx="0" cy="0"/>
          <a:chOff x="0" y="0"/>
          <a:chExt cx="0" cy="0"/>
        </a:xfrm>
      </p:grpSpPr>
      <p:sp>
        <p:nvSpPr>
          <p:cNvPr id="230" name="Google Shape;230;p17"/>
          <p:cNvSpPr txBox="1"/>
          <p:nvPr/>
        </p:nvSpPr>
        <p:spPr>
          <a:xfrm>
            <a:off x="2637817" y="4421501"/>
            <a:ext cx="13466400" cy="2303700"/>
          </a:xfrm>
          <a:prstGeom prst="rect">
            <a:avLst/>
          </a:prstGeom>
          <a:noFill/>
          <a:ln>
            <a:noFill/>
          </a:ln>
        </p:spPr>
        <p:txBody>
          <a:bodyPr anchorCtr="0" anchor="t" bIns="0" lIns="0" spcFirstLastPara="1" rIns="0" wrap="square" tIns="0">
            <a:spAutoFit/>
          </a:bodyPr>
          <a:lstStyle/>
          <a:p>
            <a:pPr indent="0" lvl="0" marL="0" marR="0" rtl="0" algn="ctr">
              <a:lnSpc>
                <a:spcPct val="140009"/>
              </a:lnSpc>
              <a:spcBef>
                <a:spcPts val="0"/>
              </a:spcBef>
              <a:spcAft>
                <a:spcPts val="0"/>
              </a:spcAft>
              <a:buNone/>
            </a:pPr>
            <a:r>
              <a:rPr i="0" lang="en-US" sz="6236" u="none" cap="none" strike="noStrike">
                <a:solidFill>
                  <a:srgbClr val="FFFFFF"/>
                </a:solidFill>
                <a:latin typeface="Roboto"/>
                <a:ea typeface="Roboto"/>
                <a:cs typeface="Roboto"/>
                <a:sym typeface="Roboto"/>
              </a:rPr>
              <a:t>PREGUNTAS DE LA COMISIÓN</a:t>
            </a:r>
            <a:endParaRPr>
              <a:latin typeface="Roboto"/>
              <a:ea typeface="Roboto"/>
              <a:cs typeface="Roboto"/>
              <a:sym typeface="Roboto"/>
            </a:endParaRPr>
          </a:p>
          <a:p>
            <a:pPr indent="0" lvl="0" marL="0" marR="0" rtl="0" algn="ctr">
              <a:lnSpc>
                <a:spcPct val="140009"/>
              </a:lnSpc>
              <a:spcBef>
                <a:spcPts val="0"/>
              </a:spcBef>
              <a:spcAft>
                <a:spcPts val="0"/>
              </a:spcAft>
              <a:buNone/>
            </a:pPr>
            <a:r>
              <a:t/>
            </a:r>
            <a:endParaRPr b="1" i="0" sz="6236" u="none" cap="none" strike="noStrike">
              <a:solidFill>
                <a:srgbClr val="FFFFFF"/>
              </a:solidFill>
              <a:latin typeface="Ultra"/>
              <a:ea typeface="Ultra"/>
              <a:cs typeface="Ultra"/>
              <a:sym typeface="Ultra"/>
            </a:endParaRPr>
          </a:p>
        </p:txBody>
      </p:sp>
      <p:sp>
        <p:nvSpPr>
          <p:cNvPr id="231" name="Google Shape;231;p17"/>
          <p:cNvSpPr/>
          <p:nvPr/>
        </p:nvSpPr>
        <p:spPr>
          <a:xfrm>
            <a:off x="13228771" y="-88879"/>
            <a:ext cx="5211629" cy="1895138"/>
          </a:xfrm>
          <a:custGeom>
            <a:rect b="b" l="l" r="r" t="t"/>
            <a:pathLst>
              <a:path extrusionOk="0" h="1895138" w="5211629">
                <a:moveTo>
                  <a:pt x="0" y="0"/>
                </a:moveTo>
                <a:lnTo>
                  <a:pt x="5211629" y="0"/>
                </a:lnTo>
                <a:lnTo>
                  <a:pt x="5211629" y="1895138"/>
                </a:lnTo>
                <a:lnTo>
                  <a:pt x="0" y="1895138"/>
                </a:lnTo>
                <a:lnTo>
                  <a:pt x="0" y="0"/>
                </a:lnTo>
                <a:close/>
              </a:path>
            </a:pathLst>
          </a:custGeom>
          <a:blipFill rotWithShape="1">
            <a:blip r:embed="rId3">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