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Telegraf Heavy" charset="1" panose="00000A00000000000000"/>
      <p:regular r:id="rId24"/>
    </p:embeddedFont>
    <p:embeddedFont>
      <p:font typeface="Garet" charset="1" panose="00000000000000000000"/>
      <p:regular r:id="rId25"/>
    </p:embeddedFont>
    <p:embeddedFont>
      <p:font typeface="Telegraf Ultra-Bold" charset="1" panose="00000900000000000000"/>
      <p:regular r:id="rId26"/>
    </p:embeddedFont>
    <p:embeddedFont>
      <p:font typeface="Arimo Bold" charset="1" panose="020B0704020202020204"/>
      <p:regular r:id="rId27"/>
    </p:embeddedFont>
    <p:embeddedFont>
      <p:font typeface="Arimo" charset="1" panose="020B0604020202020204"/>
      <p:regular r:id="rId28"/>
    </p:embeddedFont>
    <p:embeddedFont>
      <p:font typeface="Telegraf Bold" charset="1" panose="00000800000000000000"/>
      <p:regular r:id="rId29"/>
    </p:embeddedFont>
    <p:embeddedFont>
      <p:font typeface="Telegraf" charset="1" panose="00000500000000000000"/>
      <p:regular r:id="rId30"/>
    </p:embeddedFont>
    <p:embeddedFont>
      <p:font typeface="Open Sans Bold" charset="1" panose="020B0806030504020204"/>
      <p:regular r:id="rId35"/>
    </p:embeddedFont>
    <p:embeddedFont>
      <p:font typeface="Open Sans" charset="1" panose="020B060603050402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jpeg" Type="http://schemas.openxmlformats.org/officeDocument/2006/relationships/image"/><Relationship Id="rId5"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1.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VAG6YFnWYww.mp4" Type="http://schemas.openxmlformats.org/officeDocument/2006/relationships/video"/><Relationship Id="rId4" Target="../media/VAG6YFnWYww.mp4" Type="http://schemas.microsoft.com/office/2007/relationships/media"/><Relationship Id="rId5"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43922"/>
              </a:srgbClr>
            </a:solidFill>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385498"/>
            <a:ext cx="16230600" cy="3928353"/>
          </a:xfrm>
          <a:prstGeom prst="rect">
            <a:avLst/>
          </a:prstGeom>
        </p:spPr>
        <p:txBody>
          <a:bodyPr anchor="t" rtlCol="false" tIns="0" lIns="0" bIns="0" rIns="0">
            <a:spAutoFit/>
          </a:bodyPr>
          <a:lstStyle/>
          <a:p>
            <a:pPr algn="l">
              <a:lnSpc>
                <a:spcPts val="19373"/>
              </a:lnSpc>
            </a:pPr>
            <a:r>
              <a:rPr lang="en-US" sz="13838" b="true">
                <a:solidFill>
                  <a:srgbClr val="FFFFFF"/>
                </a:solidFill>
                <a:latin typeface="Telegraf Heavy"/>
                <a:ea typeface="Telegraf Heavy"/>
                <a:cs typeface="Telegraf Heavy"/>
                <a:sym typeface="Telegraf Heavy"/>
              </a:rPr>
              <a:t>PACS-AI ASSIST</a:t>
            </a:r>
          </a:p>
        </p:txBody>
      </p:sp>
      <p:sp>
        <p:nvSpPr>
          <p:cNvPr name="TextBox 6" id="6"/>
          <p:cNvSpPr txBox="true"/>
          <p:nvPr/>
        </p:nvSpPr>
        <p:spPr>
          <a:xfrm rot="0">
            <a:off x="5083045" y="4705091"/>
            <a:ext cx="8121910" cy="1237026"/>
          </a:xfrm>
          <a:prstGeom prst="rect">
            <a:avLst/>
          </a:prstGeom>
        </p:spPr>
        <p:txBody>
          <a:bodyPr anchor="t" rtlCol="false" tIns="0" lIns="0" bIns="0" rIns="0">
            <a:spAutoFit/>
          </a:bodyPr>
          <a:lstStyle/>
          <a:p>
            <a:pPr algn="l">
              <a:lnSpc>
                <a:spcPts val="5265"/>
              </a:lnSpc>
            </a:pPr>
            <a:r>
              <a:rPr lang="en-US" sz="3761">
                <a:solidFill>
                  <a:srgbClr val="FFFFFF"/>
                </a:solidFill>
                <a:latin typeface="Garet"/>
                <a:ea typeface="Garet"/>
                <a:cs typeface="Garet"/>
                <a:sym typeface="Garet"/>
              </a:rPr>
              <a:t>PRESENTACIÓN FINAL CAPSTONE </a:t>
            </a:r>
          </a:p>
        </p:txBody>
      </p:sp>
      <p:sp>
        <p:nvSpPr>
          <p:cNvPr name="Freeform 7" id="7"/>
          <p:cNvSpPr/>
          <p:nvPr/>
        </p:nvSpPr>
        <p:spPr>
          <a:xfrm flipH="false" flipV="false" rot="0">
            <a:off x="6488780" y="5473100"/>
            <a:ext cx="5310441" cy="1931069"/>
          </a:xfrm>
          <a:custGeom>
            <a:avLst/>
            <a:gdLst/>
            <a:ahLst/>
            <a:cxnLst/>
            <a:rect r="r" b="b" t="t" l="l"/>
            <a:pathLst>
              <a:path h="1931069" w="5310441">
                <a:moveTo>
                  <a:pt x="0" y="0"/>
                </a:moveTo>
                <a:lnTo>
                  <a:pt x="5310440" y="0"/>
                </a:lnTo>
                <a:lnTo>
                  <a:pt x="5310440" y="1931069"/>
                </a:lnTo>
                <a:lnTo>
                  <a:pt x="0" y="1931069"/>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7076020" y="2915255"/>
            <a:ext cx="4135960" cy="4216092"/>
            <a:chOff x="0" y="0"/>
            <a:chExt cx="812800" cy="828548"/>
          </a:xfrm>
        </p:grpSpPr>
        <p:sp>
          <p:nvSpPr>
            <p:cNvPr name="Freeform 3" id="3"/>
            <p:cNvSpPr/>
            <p:nvPr/>
          </p:nvSpPr>
          <p:spPr>
            <a:xfrm flipH="false" flipV="false" rot="0">
              <a:off x="0" y="0"/>
              <a:ext cx="812800" cy="828548"/>
            </a:xfrm>
            <a:custGeom>
              <a:avLst/>
              <a:gdLst/>
              <a:ahLst/>
              <a:cxnLst/>
              <a:rect r="r" b="b" t="t" l="l"/>
              <a:pathLst>
                <a:path h="828548" w="812800">
                  <a:moveTo>
                    <a:pt x="406400" y="0"/>
                  </a:moveTo>
                  <a:cubicBezTo>
                    <a:pt x="181951" y="0"/>
                    <a:pt x="0" y="185477"/>
                    <a:pt x="0" y="414274"/>
                  </a:cubicBezTo>
                  <a:cubicBezTo>
                    <a:pt x="0" y="643071"/>
                    <a:pt x="181951" y="828548"/>
                    <a:pt x="406400" y="828548"/>
                  </a:cubicBezTo>
                  <a:cubicBezTo>
                    <a:pt x="630849" y="828548"/>
                    <a:pt x="812800" y="643071"/>
                    <a:pt x="812800" y="414274"/>
                  </a:cubicBezTo>
                  <a:cubicBezTo>
                    <a:pt x="812800" y="185477"/>
                    <a:pt x="630849" y="0"/>
                    <a:pt x="406400" y="0"/>
                  </a:cubicBezTo>
                  <a:close/>
                </a:path>
              </a:pathLst>
            </a:custGeom>
            <a:blipFill>
              <a:blip r:embed="rId2"/>
              <a:stretch>
                <a:fillRect l="0" t="-23620" r="0" b="-23620"/>
              </a:stretch>
            </a:blipFill>
          </p:spPr>
        </p:sp>
      </p:grpSp>
      <p:grpSp>
        <p:nvGrpSpPr>
          <p:cNvPr name="Group 4" id="4"/>
          <p:cNvGrpSpPr/>
          <p:nvPr/>
        </p:nvGrpSpPr>
        <p:grpSpPr>
          <a:xfrm rot="0">
            <a:off x="1078753" y="2915255"/>
            <a:ext cx="4216092" cy="421609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7758" t="0" r="-7758" b="0"/>
              </a:stretch>
            </a:blipFill>
          </p:spPr>
        </p:sp>
      </p:grpSp>
      <p:grpSp>
        <p:nvGrpSpPr>
          <p:cNvPr name="Group 6" id="6"/>
          <p:cNvGrpSpPr/>
          <p:nvPr/>
        </p:nvGrpSpPr>
        <p:grpSpPr>
          <a:xfrm rot="0">
            <a:off x="12997417" y="2915255"/>
            <a:ext cx="4135960" cy="4216092"/>
            <a:chOff x="0" y="0"/>
            <a:chExt cx="812800" cy="828548"/>
          </a:xfrm>
        </p:grpSpPr>
        <p:sp>
          <p:nvSpPr>
            <p:cNvPr name="Freeform 7" id="7"/>
            <p:cNvSpPr/>
            <p:nvPr/>
          </p:nvSpPr>
          <p:spPr>
            <a:xfrm flipH="false" flipV="false" rot="0">
              <a:off x="0" y="0"/>
              <a:ext cx="812800" cy="828548"/>
            </a:xfrm>
            <a:custGeom>
              <a:avLst/>
              <a:gdLst/>
              <a:ahLst/>
              <a:cxnLst/>
              <a:rect r="r" b="b" t="t" l="l"/>
              <a:pathLst>
                <a:path h="828548" w="812800">
                  <a:moveTo>
                    <a:pt x="406400" y="0"/>
                  </a:moveTo>
                  <a:cubicBezTo>
                    <a:pt x="181951" y="0"/>
                    <a:pt x="0" y="185477"/>
                    <a:pt x="0" y="414274"/>
                  </a:cubicBezTo>
                  <a:cubicBezTo>
                    <a:pt x="0" y="643071"/>
                    <a:pt x="181951" y="828548"/>
                    <a:pt x="406400" y="828548"/>
                  </a:cubicBezTo>
                  <a:cubicBezTo>
                    <a:pt x="630849" y="828548"/>
                    <a:pt x="812800" y="643071"/>
                    <a:pt x="812800" y="414274"/>
                  </a:cubicBezTo>
                  <a:cubicBezTo>
                    <a:pt x="812800" y="185477"/>
                    <a:pt x="630849" y="0"/>
                    <a:pt x="406400" y="0"/>
                  </a:cubicBezTo>
                  <a:close/>
                </a:path>
              </a:pathLst>
            </a:custGeom>
            <a:blipFill>
              <a:blip r:embed="rId4"/>
              <a:stretch>
                <a:fillRect l="0" t="-15467" r="0" b="-15467"/>
              </a:stretch>
            </a:blipFill>
          </p:spPr>
        </p:sp>
      </p:grpSp>
      <p:sp>
        <p:nvSpPr>
          <p:cNvPr name="TextBox 8" id="8"/>
          <p:cNvSpPr txBox="true"/>
          <p:nvPr/>
        </p:nvSpPr>
        <p:spPr>
          <a:xfrm rot="0">
            <a:off x="2897806" y="1136735"/>
            <a:ext cx="12492387" cy="1085931"/>
          </a:xfrm>
          <a:prstGeom prst="rect">
            <a:avLst/>
          </a:prstGeom>
        </p:spPr>
        <p:txBody>
          <a:bodyPr anchor="t" rtlCol="false" tIns="0" lIns="0" bIns="0" rIns="0">
            <a:spAutoFit/>
          </a:bodyPr>
          <a:lstStyle/>
          <a:p>
            <a:pPr algn="l">
              <a:lnSpc>
                <a:spcPts val="8395"/>
              </a:lnSpc>
              <a:spcBef>
                <a:spcPct val="0"/>
              </a:spcBef>
            </a:pPr>
            <a:r>
              <a:rPr lang="en-US" b="true" sz="5996">
                <a:solidFill>
                  <a:srgbClr val="FFFFFF"/>
                </a:solidFill>
                <a:latin typeface="Telegraf Ultra-Bold"/>
                <a:ea typeface="Telegraf Ultra-Bold"/>
                <a:cs typeface="Telegraf Ultra-Bold"/>
                <a:sym typeface="Telegraf Ultra-Bold"/>
              </a:rPr>
              <a:t>INTEGRANTES DEL PROYECTO</a:t>
            </a:r>
          </a:p>
        </p:txBody>
      </p:sp>
      <p:sp>
        <p:nvSpPr>
          <p:cNvPr name="TextBox 9" id="9"/>
          <p:cNvSpPr txBox="true"/>
          <p:nvPr/>
        </p:nvSpPr>
        <p:spPr>
          <a:xfrm rot="0">
            <a:off x="1378783" y="7603716"/>
            <a:ext cx="3616032" cy="616045"/>
          </a:xfrm>
          <a:prstGeom prst="rect">
            <a:avLst/>
          </a:prstGeom>
        </p:spPr>
        <p:txBody>
          <a:bodyPr anchor="t" rtlCol="false" tIns="0" lIns="0" bIns="0" rIns="0">
            <a:spAutoFit/>
          </a:bodyPr>
          <a:lstStyle/>
          <a:p>
            <a:pPr algn="ctr">
              <a:lnSpc>
                <a:spcPts val="4894"/>
              </a:lnSpc>
            </a:pPr>
            <a:r>
              <a:rPr lang="en-US" sz="3496" b="true">
                <a:solidFill>
                  <a:srgbClr val="FFFFFF"/>
                </a:solidFill>
                <a:latin typeface="Arimo Bold"/>
                <a:ea typeface="Arimo Bold"/>
                <a:cs typeface="Arimo Bold"/>
                <a:sym typeface="Arimo Bold"/>
              </a:rPr>
              <a:t>Diego Castañeda</a:t>
            </a:r>
          </a:p>
        </p:txBody>
      </p:sp>
      <p:sp>
        <p:nvSpPr>
          <p:cNvPr name="TextBox 10" id="10"/>
          <p:cNvSpPr txBox="true"/>
          <p:nvPr/>
        </p:nvSpPr>
        <p:spPr>
          <a:xfrm rot="0">
            <a:off x="7522489" y="7579176"/>
            <a:ext cx="3243021" cy="616045"/>
          </a:xfrm>
          <a:prstGeom prst="rect">
            <a:avLst/>
          </a:prstGeom>
        </p:spPr>
        <p:txBody>
          <a:bodyPr anchor="t" rtlCol="false" tIns="0" lIns="0" bIns="0" rIns="0">
            <a:spAutoFit/>
          </a:bodyPr>
          <a:lstStyle/>
          <a:p>
            <a:pPr algn="ctr">
              <a:lnSpc>
                <a:spcPts val="4894"/>
              </a:lnSpc>
            </a:pPr>
            <a:r>
              <a:rPr lang="en-US" sz="3496" b="true">
                <a:solidFill>
                  <a:srgbClr val="FFFFFF"/>
                </a:solidFill>
                <a:latin typeface="Arimo Bold"/>
                <a:ea typeface="Arimo Bold"/>
                <a:cs typeface="Arimo Bold"/>
                <a:sym typeface="Arimo Bold"/>
              </a:rPr>
              <a:t>Scarlett Socías</a:t>
            </a:r>
          </a:p>
        </p:txBody>
      </p:sp>
      <p:sp>
        <p:nvSpPr>
          <p:cNvPr name="TextBox 11" id="11"/>
          <p:cNvSpPr txBox="true"/>
          <p:nvPr/>
        </p:nvSpPr>
        <p:spPr>
          <a:xfrm rot="0">
            <a:off x="13359594" y="7603716"/>
            <a:ext cx="3411607" cy="566966"/>
          </a:xfrm>
          <a:prstGeom prst="rect">
            <a:avLst/>
          </a:prstGeom>
        </p:spPr>
        <p:txBody>
          <a:bodyPr anchor="t" rtlCol="false" tIns="0" lIns="0" bIns="0" rIns="0">
            <a:spAutoFit/>
          </a:bodyPr>
          <a:lstStyle/>
          <a:p>
            <a:pPr algn="ctr">
              <a:lnSpc>
                <a:spcPts val="4449"/>
              </a:lnSpc>
            </a:pPr>
            <a:r>
              <a:rPr lang="en-US" sz="3178" b="true">
                <a:solidFill>
                  <a:srgbClr val="FFFFFF"/>
                </a:solidFill>
                <a:latin typeface="Arimo Bold"/>
                <a:ea typeface="Arimo Bold"/>
                <a:cs typeface="Arimo Bold"/>
                <a:sym typeface="Arimo Bold"/>
              </a:rPr>
              <a:t> Millaray Llanquín</a:t>
            </a:r>
          </a:p>
        </p:txBody>
      </p:sp>
      <p:sp>
        <p:nvSpPr>
          <p:cNvPr name="TextBox 12" id="12"/>
          <p:cNvSpPr txBox="true"/>
          <p:nvPr/>
        </p:nvSpPr>
        <p:spPr>
          <a:xfrm rot="0">
            <a:off x="1894958" y="8250561"/>
            <a:ext cx="2693631" cy="616045"/>
          </a:xfrm>
          <a:prstGeom prst="rect">
            <a:avLst/>
          </a:prstGeom>
        </p:spPr>
        <p:txBody>
          <a:bodyPr anchor="t" rtlCol="false" tIns="0" lIns="0" bIns="0" rIns="0">
            <a:spAutoFit/>
          </a:bodyPr>
          <a:lstStyle/>
          <a:p>
            <a:pPr algn="l">
              <a:lnSpc>
                <a:spcPts val="4894"/>
              </a:lnSpc>
            </a:pPr>
            <a:r>
              <a:rPr lang="en-US" sz="3496">
                <a:solidFill>
                  <a:srgbClr val="FFFFFF"/>
                </a:solidFill>
                <a:latin typeface="Arimo"/>
                <a:ea typeface="Arimo"/>
                <a:cs typeface="Arimo"/>
                <a:sym typeface="Arimo"/>
              </a:rPr>
              <a:t>Líder Técnico</a:t>
            </a:r>
          </a:p>
        </p:txBody>
      </p:sp>
      <p:sp>
        <p:nvSpPr>
          <p:cNvPr name="TextBox 13" id="13"/>
          <p:cNvSpPr txBox="true"/>
          <p:nvPr/>
        </p:nvSpPr>
        <p:spPr>
          <a:xfrm rot="0">
            <a:off x="13662761" y="8250561"/>
            <a:ext cx="2805272" cy="616045"/>
          </a:xfrm>
          <a:prstGeom prst="rect">
            <a:avLst/>
          </a:prstGeom>
        </p:spPr>
        <p:txBody>
          <a:bodyPr anchor="t" rtlCol="false" tIns="0" lIns="0" bIns="0" rIns="0">
            <a:spAutoFit/>
          </a:bodyPr>
          <a:lstStyle/>
          <a:p>
            <a:pPr algn="l">
              <a:lnSpc>
                <a:spcPts val="4894"/>
              </a:lnSpc>
            </a:pPr>
            <a:r>
              <a:rPr lang="en-US" sz="3496">
                <a:solidFill>
                  <a:srgbClr val="FFFFFF"/>
                </a:solidFill>
                <a:latin typeface="Arimo"/>
                <a:ea typeface="Arimo"/>
                <a:cs typeface="Arimo"/>
                <a:sym typeface="Arimo"/>
              </a:rPr>
              <a:t>Scrum Master </a:t>
            </a:r>
          </a:p>
        </p:txBody>
      </p:sp>
      <p:sp>
        <p:nvSpPr>
          <p:cNvPr name="TextBox 14" id="14"/>
          <p:cNvSpPr txBox="true"/>
          <p:nvPr/>
        </p:nvSpPr>
        <p:spPr>
          <a:xfrm rot="0">
            <a:off x="7782142" y="8299639"/>
            <a:ext cx="2723715" cy="566966"/>
          </a:xfrm>
          <a:prstGeom prst="rect">
            <a:avLst/>
          </a:prstGeom>
        </p:spPr>
        <p:txBody>
          <a:bodyPr anchor="t" rtlCol="false" tIns="0" lIns="0" bIns="0" rIns="0">
            <a:spAutoFit/>
          </a:bodyPr>
          <a:lstStyle/>
          <a:p>
            <a:pPr algn="l">
              <a:lnSpc>
                <a:spcPts val="4449"/>
              </a:lnSpc>
            </a:pPr>
            <a:r>
              <a:rPr lang="en-US" sz="3178">
                <a:solidFill>
                  <a:srgbClr val="FFFFFF"/>
                </a:solidFill>
                <a:latin typeface="Arimo"/>
                <a:ea typeface="Arimo"/>
                <a:cs typeface="Arimo"/>
                <a:sym typeface="Arimo"/>
              </a:rPr>
              <a:t> Product owner</a:t>
            </a:r>
          </a:p>
        </p:txBody>
      </p:sp>
      <p:sp>
        <p:nvSpPr>
          <p:cNvPr name="Freeform 15" id="1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5"/>
            <a:stretch>
              <a:fillRect l="0" t="0" r="0" b="0"/>
            </a:stretch>
          </a:blipFill>
        </p:spPr>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651204" y="0"/>
            <a:ext cx="6970174" cy="10287000"/>
          </a:xfrm>
          <a:custGeom>
            <a:avLst/>
            <a:gdLst/>
            <a:ahLst/>
            <a:cxnLst/>
            <a:rect r="r" b="b" t="t" l="l"/>
            <a:pathLst>
              <a:path h="10287000" w="6970174">
                <a:moveTo>
                  <a:pt x="0" y="0"/>
                </a:moveTo>
                <a:lnTo>
                  <a:pt x="6970174" y="0"/>
                </a:lnTo>
                <a:lnTo>
                  <a:pt x="6970174" y="10287000"/>
                </a:lnTo>
                <a:lnTo>
                  <a:pt x="0" y="10287000"/>
                </a:lnTo>
                <a:lnTo>
                  <a:pt x="0" y="0"/>
                </a:lnTo>
                <a:close/>
              </a:path>
            </a:pathLst>
          </a:custGeom>
          <a:blipFill>
            <a:blip r:embed="rId2"/>
            <a:stretch>
              <a:fillRect l="0" t="0" r="-18068" b="0"/>
            </a:stretch>
          </a:blipFill>
        </p:spPr>
      </p:sp>
      <p:grpSp>
        <p:nvGrpSpPr>
          <p:cNvPr name="Group 3" id="3"/>
          <p:cNvGrpSpPr/>
          <p:nvPr/>
        </p:nvGrpSpPr>
        <p:grpSpPr>
          <a:xfrm rot="0">
            <a:off x="6318970" y="-183144"/>
            <a:ext cx="12263200" cy="10715444"/>
            <a:chOff x="0" y="0"/>
            <a:chExt cx="3229814" cy="2822174"/>
          </a:xfrm>
        </p:grpSpPr>
        <p:sp>
          <p:nvSpPr>
            <p:cNvPr name="Freeform 4" id="4"/>
            <p:cNvSpPr/>
            <p:nvPr/>
          </p:nvSpPr>
          <p:spPr>
            <a:xfrm flipH="false" flipV="false" rot="0">
              <a:off x="0" y="0"/>
              <a:ext cx="3229814" cy="2822174"/>
            </a:xfrm>
            <a:custGeom>
              <a:avLst/>
              <a:gdLst/>
              <a:ahLst/>
              <a:cxnLst/>
              <a:rect r="r" b="b" t="t" l="l"/>
              <a:pathLst>
                <a:path h="2822174" w="3229814">
                  <a:moveTo>
                    <a:pt x="0" y="0"/>
                  </a:moveTo>
                  <a:lnTo>
                    <a:pt x="3229814" y="0"/>
                  </a:lnTo>
                  <a:lnTo>
                    <a:pt x="3229814" y="2822174"/>
                  </a:lnTo>
                  <a:lnTo>
                    <a:pt x="0" y="2822174"/>
                  </a:lnTo>
                  <a:close/>
                </a:path>
              </a:pathLst>
            </a:custGeom>
            <a:solidFill>
              <a:srgbClr val="FFFFFF"/>
            </a:solidFill>
          </p:spPr>
        </p:sp>
        <p:sp>
          <p:nvSpPr>
            <p:cNvPr name="TextBox 5" id="5"/>
            <p:cNvSpPr txBox="true"/>
            <p:nvPr/>
          </p:nvSpPr>
          <p:spPr>
            <a:xfrm>
              <a:off x="0" y="-38100"/>
              <a:ext cx="3229814" cy="286027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sp>
        <p:nvSpPr>
          <p:cNvPr name="Freeform 7" id="7"/>
          <p:cNvSpPr/>
          <p:nvPr/>
        </p:nvSpPr>
        <p:spPr>
          <a:xfrm flipH="false" flipV="false" rot="0">
            <a:off x="14108752" y="165928"/>
            <a:ext cx="3993338" cy="985855"/>
          </a:xfrm>
          <a:custGeom>
            <a:avLst/>
            <a:gdLst/>
            <a:ahLst/>
            <a:cxnLst/>
            <a:rect r="r" b="b" t="t" l="l"/>
            <a:pathLst>
              <a:path h="985855" w="3993338">
                <a:moveTo>
                  <a:pt x="0" y="0"/>
                </a:moveTo>
                <a:lnTo>
                  <a:pt x="3993338" y="0"/>
                </a:lnTo>
                <a:lnTo>
                  <a:pt x="3993338" y="985855"/>
                </a:lnTo>
                <a:lnTo>
                  <a:pt x="0" y="985855"/>
                </a:lnTo>
                <a:lnTo>
                  <a:pt x="0" y="0"/>
                </a:lnTo>
                <a:close/>
              </a:path>
            </a:pathLst>
          </a:custGeom>
          <a:blipFill>
            <a:blip r:embed="rId4"/>
            <a:stretch>
              <a:fillRect l="0" t="0" r="0" b="0"/>
            </a:stretch>
          </a:blipFill>
        </p:spPr>
      </p:sp>
      <p:sp>
        <p:nvSpPr>
          <p:cNvPr name="TextBox 8" id="8"/>
          <p:cNvSpPr txBox="true"/>
          <p:nvPr/>
        </p:nvSpPr>
        <p:spPr>
          <a:xfrm rot="0">
            <a:off x="7086471" y="3398254"/>
            <a:ext cx="10172829" cy="5530104"/>
          </a:xfrm>
          <a:prstGeom prst="rect">
            <a:avLst/>
          </a:prstGeom>
        </p:spPr>
        <p:txBody>
          <a:bodyPr anchor="t" rtlCol="false" tIns="0" lIns="0" bIns="0" rIns="0">
            <a:spAutoFit/>
          </a:bodyPr>
          <a:lstStyle/>
          <a:p>
            <a:pPr algn="just" marL="0" indent="0" lvl="0">
              <a:lnSpc>
                <a:spcPts val="4416"/>
              </a:lnSpc>
              <a:spcBef>
                <a:spcPct val="0"/>
              </a:spcBef>
            </a:pPr>
            <a:r>
              <a:rPr lang="en-US" sz="3154">
                <a:solidFill>
                  <a:srgbClr val="002757"/>
                </a:solidFill>
                <a:latin typeface="Arimo"/>
                <a:ea typeface="Arimo"/>
                <a:cs typeface="Arimo"/>
                <a:sym typeface="Arimo"/>
              </a:rPr>
              <a:t>El</a:t>
            </a:r>
            <a:r>
              <a:rPr lang="en-US" sz="3154">
                <a:solidFill>
                  <a:srgbClr val="002757"/>
                </a:solidFill>
                <a:latin typeface="Arimo"/>
                <a:ea typeface="Arimo"/>
                <a:cs typeface="Arimo"/>
                <a:sym typeface="Arimo"/>
              </a:rPr>
              <a:t> proyecto PACS-AI Assist surge con el objetivo de apoyar el trabajo de los radiólogos mediante la integración de inteligencia artificial en sistemas PACS (Picture Archiving and Communication System).</a:t>
            </a:r>
          </a:p>
          <a:p>
            <a:pPr algn="just" marL="0" indent="0" lvl="0">
              <a:lnSpc>
                <a:spcPts val="4416"/>
              </a:lnSpc>
              <a:spcBef>
                <a:spcPct val="0"/>
              </a:spcBef>
            </a:pPr>
          </a:p>
          <a:p>
            <a:pPr algn="just">
              <a:lnSpc>
                <a:spcPts val="4416"/>
              </a:lnSpc>
              <a:spcBef>
                <a:spcPct val="0"/>
              </a:spcBef>
            </a:pPr>
            <a:r>
              <a:rPr lang="en-US" sz="3154">
                <a:solidFill>
                  <a:srgbClr val="002757"/>
                </a:solidFill>
                <a:latin typeface="Arimo"/>
                <a:ea typeface="Arimo"/>
                <a:cs typeface="Arimo"/>
                <a:sym typeface="Arimo"/>
              </a:rPr>
              <a:t>El sistema busca automatizar la detección temprana de nódulos pulmonares en estudios de tomografía computarizada, utilizando un modelo de IA conectado al servidor Orthanc y visualizado a través del OHIF Viewer.</a:t>
            </a:r>
          </a:p>
          <a:p>
            <a:pPr algn="just">
              <a:lnSpc>
                <a:spcPts val="4416"/>
              </a:lnSpc>
              <a:spcBef>
                <a:spcPct val="0"/>
              </a:spcBef>
            </a:pPr>
          </a:p>
        </p:txBody>
      </p:sp>
      <p:sp>
        <p:nvSpPr>
          <p:cNvPr name="TextBox 9" id="9"/>
          <p:cNvSpPr txBox="true"/>
          <p:nvPr/>
        </p:nvSpPr>
        <p:spPr>
          <a:xfrm rot="0">
            <a:off x="6957411" y="1652654"/>
            <a:ext cx="10430949" cy="1078946"/>
          </a:xfrm>
          <a:prstGeom prst="rect">
            <a:avLst/>
          </a:prstGeom>
        </p:spPr>
        <p:txBody>
          <a:bodyPr anchor="t" rtlCol="false" tIns="0" lIns="0" bIns="0" rIns="0">
            <a:spAutoFit/>
          </a:bodyPr>
          <a:lstStyle/>
          <a:p>
            <a:pPr algn="r">
              <a:lnSpc>
                <a:spcPts val="8255"/>
              </a:lnSpc>
              <a:spcBef>
                <a:spcPct val="0"/>
              </a:spcBef>
            </a:pPr>
            <a:r>
              <a:rPr lang="en-US" b="true" sz="5896">
                <a:solidFill>
                  <a:srgbClr val="002757"/>
                </a:solidFill>
                <a:latin typeface="Telegraf Bold"/>
                <a:ea typeface="Telegraf Bold"/>
                <a:cs typeface="Telegraf Bold"/>
                <a:sym typeface="Telegraf Bold"/>
              </a:rPr>
              <a:t>CONTEXTO DEL PROYECTO</a:t>
            </a:r>
          </a:p>
        </p:txBody>
      </p:sp>
    </p:spTree>
  </p:cSld>
  <p:clrMapOvr>
    <a:masterClrMapping/>
  </p:clrMapOvr>
  <p:transition spd="med">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494368" y="-104975"/>
            <a:ext cx="10785560" cy="10715444"/>
            <a:chOff x="0" y="0"/>
            <a:chExt cx="2840641" cy="2822174"/>
          </a:xfrm>
        </p:grpSpPr>
        <p:sp>
          <p:nvSpPr>
            <p:cNvPr name="Freeform 3" id="3"/>
            <p:cNvSpPr/>
            <p:nvPr/>
          </p:nvSpPr>
          <p:spPr>
            <a:xfrm flipH="false" flipV="false" rot="0">
              <a:off x="0" y="0"/>
              <a:ext cx="2840641" cy="2822174"/>
            </a:xfrm>
            <a:custGeom>
              <a:avLst/>
              <a:gdLst/>
              <a:ahLst/>
              <a:cxnLst/>
              <a:rect r="r" b="b" t="t" l="l"/>
              <a:pathLst>
                <a:path h="2822174" w="2840641">
                  <a:moveTo>
                    <a:pt x="0" y="0"/>
                  </a:moveTo>
                  <a:lnTo>
                    <a:pt x="2840641" y="0"/>
                  </a:lnTo>
                  <a:lnTo>
                    <a:pt x="2840641" y="2822174"/>
                  </a:lnTo>
                  <a:lnTo>
                    <a:pt x="0" y="2822174"/>
                  </a:lnTo>
                  <a:close/>
                </a:path>
              </a:pathLst>
            </a:custGeom>
            <a:solidFill>
              <a:srgbClr val="FFFFFF"/>
            </a:solidFill>
          </p:spPr>
        </p:sp>
        <p:sp>
          <p:nvSpPr>
            <p:cNvPr name="TextBox 4" id="4"/>
            <p:cNvSpPr txBox="true"/>
            <p:nvPr/>
          </p:nvSpPr>
          <p:spPr>
            <a:xfrm>
              <a:off x="0" y="-38100"/>
              <a:ext cx="2840641"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1028700" y="3020970"/>
            <a:ext cx="7380983" cy="6037786"/>
          </a:xfrm>
          <a:prstGeom prst="rect">
            <a:avLst/>
          </a:prstGeom>
        </p:spPr>
        <p:txBody>
          <a:bodyPr anchor="t" rtlCol="false" tIns="0" lIns="0" bIns="0" rIns="0">
            <a:spAutoFit/>
          </a:bodyPr>
          <a:lstStyle/>
          <a:p>
            <a:pPr algn="just">
              <a:lnSpc>
                <a:spcPts val="4363"/>
              </a:lnSpc>
              <a:spcBef>
                <a:spcPct val="0"/>
              </a:spcBef>
            </a:pPr>
            <a:r>
              <a:rPr lang="en-US" sz="3116">
                <a:solidFill>
                  <a:srgbClr val="002757"/>
                </a:solidFill>
                <a:latin typeface="Telegraf"/>
                <a:ea typeface="Telegraf"/>
                <a:cs typeface="Telegraf"/>
                <a:sym typeface="Telegraf"/>
              </a:rPr>
              <a:t>En los hospitales y centros de salud, los sistemas PACS almacenan grandes volúmenes de imágenes médicas (DICOM), pero los radiólogos suelen enfrentarse a sobrecarga de trabajo y limitaciones de tiempo (turnos rotativos y cambios de horario). Esto dificulta la detección temprana de enfermedades críticas, como el cáncer de pulmón, lo que puede retrasar diagnósticos y afectar la calidad de la atención.</a:t>
            </a:r>
          </a:p>
        </p:txBody>
      </p:sp>
      <p:sp>
        <p:nvSpPr>
          <p:cNvPr name="TextBox 7" id="7"/>
          <p:cNvSpPr txBox="true"/>
          <p:nvPr/>
        </p:nvSpPr>
        <p:spPr>
          <a:xfrm rot="0">
            <a:off x="9464199" y="2878095"/>
            <a:ext cx="7795101"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DESCRIPCIÓN DEL PROYECTO</a:t>
            </a:r>
          </a:p>
        </p:txBody>
      </p:sp>
      <p:sp>
        <p:nvSpPr>
          <p:cNvPr name="TextBox 8" id="8"/>
          <p:cNvSpPr txBox="true"/>
          <p:nvPr/>
        </p:nvSpPr>
        <p:spPr>
          <a:xfrm rot="0">
            <a:off x="1028700" y="1513874"/>
            <a:ext cx="7380983"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PROBLEMA</a:t>
            </a:r>
            <a:r>
              <a:rPr lang="en-US" b="true" sz="5496">
                <a:solidFill>
                  <a:srgbClr val="002757"/>
                </a:solidFill>
                <a:latin typeface="Telegraf Bold"/>
                <a:ea typeface="Telegraf Bold"/>
                <a:cs typeface="Telegraf Bold"/>
                <a:sym typeface="Telegraf Bold"/>
              </a:rPr>
              <a:t> O DOLOR</a:t>
            </a:r>
          </a:p>
        </p:txBody>
      </p:sp>
      <p:sp>
        <p:nvSpPr>
          <p:cNvPr name="Freeform 9" id="9"/>
          <p:cNvSpPr/>
          <p:nvPr/>
        </p:nvSpPr>
        <p:spPr>
          <a:xfrm flipH="false" flipV="false" rot="0">
            <a:off x="12463727" y="7462256"/>
            <a:ext cx="1796044" cy="1796044"/>
          </a:xfrm>
          <a:custGeom>
            <a:avLst/>
            <a:gdLst/>
            <a:ahLst/>
            <a:cxnLst/>
            <a:rect r="r" b="b" t="t" l="l"/>
            <a:pathLst>
              <a:path h="1796044" w="1796044">
                <a:moveTo>
                  <a:pt x="0" y="0"/>
                </a:moveTo>
                <a:lnTo>
                  <a:pt x="1796044" y="0"/>
                </a:lnTo>
                <a:lnTo>
                  <a:pt x="1796044" y="1796044"/>
                </a:lnTo>
                <a:lnTo>
                  <a:pt x="0" y="1796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med">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8927137" y="0"/>
            <a:ext cx="10394712" cy="10715444"/>
            <a:chOff x="0" y="0"/>
            <a:chExt cx="2737702" cy="2822174"/>
          </a:xfrm>
        </p:grpSpPr>
        <p:sp>
          <p:nvSpPr>
            <p:cNvPr name="Freeform 3" id="3"/>
            <p:cNvSpPr/>
            <p:nvPr/>
          </p:nvSpPr>
          <p:spPr>
            <a:xfrm flipH="false" flipV="false" rot="0">
              <a:off x="0" y="0"/>
              <a:ext cx="2737702" cy="2822174"/>
            </a:xfrm>
            <a:custGeom>
              <a:avLst/>
              <a:gdLst/>
              <a:ahLst/>
              <a:cxnLst/>
              <a:rect r="r" b="b" t="t" l="l"/>
              <a:pathLst>
                <a:path h="2822174" w="2737702">
                  <a:moveTo>
                    <a:pt x="0" y="0"/>
                  </a:moveTo>
                  <a:lnTo>
                    <a:pt x="2737702" y="0"/>
                  </a:lnTo>
                  <a:lnTo>
                    <a:pt x="2737702" y="2822174"/>
                  </a:lnTo>
                  <a:lnTo>
                    <a:pt x="0" y="2822174"/>
                  </a:lnTo>
                  <a:close/>
                </a:path>
              </a:pathLst>
            </a:custGeom>
            <a:solidFill>
              <a:srgbClr val="FFFFFF"/>
            </a:solidFill>
          </p:spPr>
        </p:sp>
        <p:sp>
          <p:nvSpPr>
            <p:cNvPr name="TextBox 4" id="4"/>
            <p:cNvSpPr txBox="true"/>
            <p:nvPr/>
          </p:nvSpPr>
          <p:spPr>
            <a:xfrm>
              <a:off x="0" y="-38100"/>
              <a:ext cx="2737702"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25385" y="0"/>
            <a:ext cx="3623704" cy="1317710"/>
          </a:xfrm>
          <a:custGeom>
            <a:avLst/>
            <a:gdLst/>
            <a:ahLst/>
            <a:cxnLst/>
            <a:rect r="r" b="b" t="t" l="l"/>
            <a:pathLst>
              <a:path h="1317710" w="3623704">
                <a:moveTo>
                  <a:pt x="0" y="0"/>
                </a:moveTo>
                <a:lnTo>
                  <a:pt x="3623703" y="0"/>
                </a:lnTo>
                <a:lnTo>
                  <a:pt x="3623703" y="1317710"/>
                </a:lnTo>
                <a:lnTo>
                  <a:pt x="0" y="1317710"/>
                </a:lnTo>
                <a:lnTo>
                  <a:pt x="0" y="0"/>
                </a:lnTo>
                <a:close/>
              </a:path>
            </a:pathLst>
          </a:custGeom>
          <a:blipFill>
            <a:blip r:embed="rId2"/>
            <a:stretch>
              <a:fillRect l="0" t="0" r="0" b="0"/>
            </a:stretch>
          </a:blipFill>
        </p:spPr>
      </p:sp>
      <p:sp>
        <p:nvSpPr>
          <p:cNvPr name="TextBox 6" id="6"/>
          <p:cNvSpPr txBox="true"/>
          <p:nvPr/>
        </p:nvSpPr>
        <p:spPr>
          <a:xfrm rot="0">
            <a:off x="10083363" y="3011445"/>
            <a:ext cx="7520326" cy="6268042"/>
          </a:xfrm>
          <a:prstGeom prst="rect">
            <a:avLst/>
          </a:prstGeom>
        </p:spPr>
        <p:txBody>
          <a:bodyPr anchor="t" rtlCol="false" tIns="0" lIns="0" bIns="0" rIns="0">
            <a:spAutoFit/>
          </a:bodyPr>
          <a:lstStyle/>
          <a:p>
            <a:pPr algn="just">
              <a:lnSpc>
                <a:spcPts val="4512"/>
              </a:lnSpc>
              <a:spcBef>
                <a:spcPct val="0"/>
              </a:spcBef>
            </a:pPr>
            <a:r>
              <a:rPr lang="en-US" sz="3223">
                <a:solidFill>
                  <a:srgbClr val="002757"/>
                </a:solidFill>
                <a:latin typeface="Telegraf"/>
                <a:ea typeface="Telegraf"/>
                <a:cs typeface="Telegraf"/>
                <a:sym typeface="Telegraf"/>
              </a:rPr>
              <a:t>Desarrollar u</a:t>
            </a:r>
            <a:r>
              <a:rPr lang="en-US" sz="3223">
                <a:solidFill>
                  <a:srgbClr val="002757"/>
                </a:solidFill>
                <a:latin typeface="Telegraf"/>
                <a:ea typeface="Telegraf"/>
                <a:cs typeface="Telegraf"/>
                <a:sym typeface="Telegraf"/>
              </a:rPr>
              <a:t>n asistente inteligente integrado a un PACS simulado (Orthanc), que procese y analice imágenes médicas en formato DICOM mediante un modelo predictivo de IA. La solución permitirá detectar de manera temprana posibles indicios de cáncer pulmonar en tomografías, entregando apoyo al radiólogo, reduciendo tiempos de análisis y riesgos de error humano.</a:t>
            </a:r>
          </a:p>
        </p:txBody>
      </p:sp>
      <p:sp>
        <p:nvSpPr>
          <p:cNvPr name="TextBox 7" id="7"/>
          <p:cNvSpPr txBox="true"/>
          <p:nvPr/>
        </p:nvSpPr>
        <p:spPr>
          <a:xfrm rot="0">
            <a:off x="1028700" y="2878095"/>
            <a:ext cx="7795101"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DESCRIPCIÓN DEL PROYECTO</a:t>
            </a:r>
          </a:p>
        </p:txBody>
      </p:sp>
      <p:sp>
        <p:nvSpPr>
          <p:cNvPr name="TextBox 8" id="8"/>
          <p:cNvSpPr txBox="true"/>
          <p:nvPr/>
        </p:nvSpPr>
        <p:spPr>
          <a:xfrm rot="0">
            <a:off x="9394585" y="1730056"/>
            <a:ext cx="8209103" cy="852250"/>
          </a:xfrm>
          <a:prstGeom prst="rect">
            <a:avLst/>
          </a:prstGeom>
        </p:spPr>
        <p:txBody>
          <a:bodyPr anchor="t" rtlCol="false" tIns="0" lIns="0" bIns="0" rIns="0">
            <a:spAutoFit/>
          </a:bodyPr>
          <a:lstStyle/>
          <a:p>
            <a:pPr algn="r">
              <a:lnSpc>
                <a:spcPts val="6575"/>
              </a:lnSpc>
              <a:spcBef>
                <a:spcPct val="0"/>
              </a:spcBef>
            </a:pPr>
            <a:r>
              <a:rPr lang="en-US" b="true" sz="4696">
                <a:solidFill>
                  <a:srgbClr val="002757"/>
                </a:solidFill>
                <a:latin typeface="Telegraf Bold"/>
                <a:ea typeface="Telegraf Bold"/>
                <a:cs typeface="Telegraf Bold"/>
                <a:sym typeface="Telegraf Bold"/>
              </a:rPr>
              <a:t>PROPUESTA</a:t>
            </a:r>
            <a:r>
              <a:rPr lang="en-US" b="true" sz="4696">
                <a:solidFill>
                  <a:srgbClr val="002757"/>
                </a:solidFill>
                <a:latin typeface="Telegraf Bold"/>
                <a:ea typeface="Telegraf Bold"/>
                <a:cs typeface="Telegraf Bold"/>
                <a:sym typeface="Telegraf Bold"/>
              </a:rPr>
              <a:t> DE SOLUCIÓN</a:t>
            </a:r>
          </a:p>
        </p:txBody>
      </p:sp>
      <p:sp>
        <p:nvSpPr>
          <p:cNvPr name="Freeform 9" id="9"/>
          <p:cNvSpPr/>
          <p:nvPr/>
        </p:nvSpPr>
        <p:spPr>
          <a:xfrm flipH="false" flipV="false" rot="0">
            <a:off x="4084438" y="7195952"/>
            <a:ext cx="1683626" cy="2062348"/>
          </a:xfrm>
          <a:custGeom>
            <a:avLst/>
            <a:gdLst/>
            <a:ahLst/>
            <a:cxnLst/>
            <a:rect r="r" b="b" t="t" l="l"/>
            <a:pathLst>
              <a:path h="2062348" w="1683626">
                <a:moveTo>
                  <a:pt x="0" y="0"/>
                </a:moveTo>
                <a:lnTo>
                  <a:pt x="1683625" y="0"/>
                </a:lnTo>
                <a:lnTo>
                  <a:pt x="1683625" y="2062348"/>
                </a:lnTo>
                <a:lnTo>
                  <a:pt x="0" y="20623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med">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320718" y="3046117"/>
            <a:ext cx="13646563" cy="5822125"/>
            <a:chOff x="0" y="0"/>
            <a:chExt cx="3594157" cy="1533399"/>
          </a:xfrm>
        </p:grpSpPr>
        <p:sp>
          <p:nvSpPr>
            <p:cNvPr name="Freeform 3" id="3"/>
            <p:cNvSpPr/>
            <p:nvPr/>
          </p:nvSpPr>
          <p:spPr>
            <a:xfrm flipH="false" flipV="false" rot="0">
              <a:off x="0" y="0"/>
              <a:ext cx="3594157" cy="1533399"/>
            </a:xfrm>
            <a:custGeom>
              <a:avLst/>
              <a:gdLst/>
              <a:ahLst/>
              <a:cxnLst/>
              <a:rect r="r" b="b" t="t" l="l"/>
              <a:pathLst>
                <a:path h="1533399" w="3594157">
                  <a:moveTo>
                    <a:pt x="7942" y="0"/>
                  </a:moveTo>
                  <a:lnTo>
                    <a:pt x="3586214" y="0"/>
                  </a:lnTo>
                  <a:cubicBezTo>
                    <a:pt x="3590601" y="0"/>
                    <a:pt x="3594157" y="3556"/>
                    <a:pt x="3594157" y="7942"/>
                  </a:cubicBezTo>
                  <a:lnTo>
                    <a:pt x="3594157" y="1525457"/>
                  </a:lnTo>
                  <a:cubicBezTo>
                    <a:pt x="3594157" y="1529843"/>
                    <a:pt x="3590601" y="1533399"/>
                    <a:pt x="3586214" y="1533399"/>
                  </a:cubicBezTo>
                  <a:lnTo>
                    <a:pt x="7942" y="1533399"/>
                  </a:lnTo>
                  <a:cubicBezTo>
                    <a:pt x="3556" y="1533399"/>
                    <a:pt x="0" y="1529843"/>
                    <a:pt x="0" y="1525457"/>
                  </a:cubicBezTo>
                  <a:lnTo>
                    <a:pt x="0" y="7942"/>
                  </a:lnTo>
                  <a:cubicBezTo>
                    <a:pt x="0" y="3556"/>
                    <a:pt x="3556" y="0"/>
                    <a:pt x="7942" y="0"/>
                  </a:cubicBezTo>
                  <a:close/>
                </a:path>
              </a:pathLst>
            </a:custGeom>
            <a:solidFill>
              <a:srgbClr val="FFFFFF"/>
            </a:solidFill>
          </p:spPr>
        </p:sp>
        <p:sp>
          <p:nvSpPr>
            <p:cNvPr name="TextBox 4" id="4"/>
            <p:cNvSpPr txBox="true"/>
            <p:nvPr/>
          </p:nvSpPr>
          <p:spPr>
            <a:xfrm>
              <a:off x="0" y="-38100"/>
              <a:ext cx="3594157" cy="157149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254626" y="3879678"/>
            <a:ext cx="11778748" cy="3546299"/>
          </a:xfrm>
          <a:prstGeom prst="rect">
            <a:avLst/>
          </a:prstGeom>
        </p:spPr>
        <p:txBody>
          <a:bodyPr anchor="t" rtlCol="false" tIns="0" lIns="0" bIns="0" rIns="0">
            <a:spAutoFit/>
          </a:bodyPr>
          <a:lstStyle/>
          <a:p>
            <a:pPr algn="just">
              <a:lnSpc>
                <a:spcPts val="5609"/>
              </a:lnSpc>
              <a:spcBef>
                <a:spcPct val="0"/>
              </a:spcBef>
            </a:pPr>
            <a:r>
              <a:rPr lang="en-US" sz="4006">
                <a:solidFill>
                  <a:srgbClr val="002757"/>
                </a:solidFill>
                <a:latin typeface="Telegraf"/>
                <a:ea typeface="Telegraf"/>
                <a:cs typeface="Telegraf"/>
                <a:sym typeface="Telegraf"/>
              </a:rPr>
              <a:t>A</a:t>
            </a:r>
            <a:r>
              <a:rPr lang="en-US" sz="4006">
                <a:solidFill>
                  <a:srgbClr val="002757"/>
                </a:solidFill>
                <a:latin typeface="Telegraf"/>
                <a:ea typeface="Telegraf"/>
                <a:cs typeface="Telegraf"/>
                <a:sym typeface="Telegraf"/>
              </a:rPr>
              <a:t>poyar a los radiólogos en la detección temprana de cáncer de pulmón, creando un asistente inteligente que analice imágenes médicas en DICOM para facilitar diagnósticos más rápidos, precisos y salvar más vidas.</a:t>
            </a:r>
          </a:p>
        </p:txBody>
      </p:sp>
      <p:sp>
        <p:nvSpPr>
          <p:cNvPr name="TextBox 6" id="6"/>
          <p:cNvSpPr txBox="true"/>
          <p:nvPr/>
        </p:nvSpPr>
        <p:spPr>
          <a:xfrm rot="0">
            <a:off x="5449866" y="1441813"/>
            <a:ext cx="7975000" cy="1085867"/>
          </a:xfrm>
          <a:prstGeom prst="rect">
            <a:avLst/>
          </a:prstGeom>
        </p:spPr>
        <p:txBody>
          <a:bodyPr anchor="t" rtlCol="false" tIns="0" lIns="0" bIns="0" rIns="0">
            <a:spAutoFit/>
          </a:bodyPr>
          <a:lstStyle/>
          <a:p>
            <a:pPr algn="l">
              <a:lnSpc>
                <a:spcPts val="8399"/>
              </a:lnSpc>
              <a:spcBef>
                <a:spcPct val="0"/>
              </a:spcBef>
            </a:pPr>
            <a:r>
              <a:rPr lang="en-US" b="true" sz="5999">
                <a:solidFill>
                  <a:srgbClr val="FFFFFF"/>
                </a:solidFill>
                <a:latin typeface="Telegraf Ultra-Bold"/>
                <a:ea typeface="Telegraf Ultra-Bold"/>
                <a:cs typeface="Telegraf Ultra-Bold"/>
                <a:sym typeface="Telegraf Ultra-Bold"/>
              </a:rPr>
              <a:t>OBJETIVO GENERAL</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false" flipV="false" rot="0">
            <a:off x="9873106" y="2372391"/>
            <a:ext cx="14772388" cy="14772388"/>
          </a:xfrm>
          <a:custGeom>
            <a:avLst/>
            <a:gdLst/>
            <a:ahLst/>
            <a:cxnLst/>
            <a:rect r="r" b="b" t="t" l="l"/>
            <a:pathLst>
              <a:path h="14772388" w="14772388">
                <a:moveTo>
                  <a:pt x="0" y="0"/>
                </a:moveTo>
                <a:lnTo>
                  <a:pt x="14772388" y="0"/>
                </a:lnTo>
                <a:lnTo>
                  <a:pt x="14772388" y="14772388"/>
                </a:lnTo>
                <a:lnTo>
                  <a:pt x="0" y="14772388"/>
                </a:lnTo>
                <a:lnTo>
                  <a:pt x="0" y="0"/>
                </a:lnTo>
                <a:close/>
              </a:path>
            </a:pathLst>
          </a:custGeom>
          <a:blipFill>
            <a:blip r:embed="rId3"/>
            <a:stretch>
              <a:fillRect l="0" t="0" r="0" b="0"/>
            </a:stretch>
          </a:blipFill>
        </p:spPr>
      </p:sp>
    </p:spTree>
  </p:cSld>
  <p:clrMapOvr>
    <a:masterClrMapping/>
  </p:clrMapOvr>
  <p:transition spd="med">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320718" y="2832480"/>
            <a:ext cx="13646563" cy="6675962"/>
            <a:chOff x="0" y="0"/>
            <a:chExt cx="3594157" cy="1758278"/>
          </a:xfrm>
        </p:grpSpPr>
        <p:sp>
          <p:nvSpPr>
            <p:cNvPr name="Freeform 3" id="3"/>
            <p:cNvSpPr/>
            <p:nvPr/>
          </p:nvSpPr>
          <p:spPr>
            <a:xfrm flipH="false" flipV="false" rot="0">
              <a:off x="0" y="0"/>
              <a:ext cx="3594157" cy="1758278"/>
            </a:xfrm>
            <a:custGeom>
              <a:avLst/>
              <a:gdLst/>
              <a:ahLst/>
              <a:cxnLst/>
              <a:rect r="r" b="b" t="t" l="l"/>
              <a:pathLst>
                <a:path h="1758278" w="3594157">
                  <a:moveTo>
                    <a:pt x="7942" y="0"/>
                  </a:moveTo>
                  <a:lnTo>
                    <a:pt x="3586214" y="0"/>
                  </a:lnTo>
                  <a:cubicBezTo>
                    <a:pt x="3590601" y="0"/>
                    <a:pt x="3594157" y="3556"/>
                    <a:pt x="3594157" y="7942"/>
                  </a:cubicBezTo>
                  <a:lnTo>
                    <a:pt x="3594157" y="1750336"/>
                  </a:lnTo>
                  <a:cubicBezTo>
                    <a:pt x="3594157" y="1754722"/>
                    <a:pt x="3590601" y="1758278"/>
                    <a:pt x="3586214" y="1758278"/>
                  </a:cubicBezTo>
                  <a:lnTo>
                    <a:pt x="7942" y="1758278"/>
                  </a:lnTo>
                  <a:cubicBezTo>
                    <a:pt x="3556" y="1758278"/>
                    <a:pt x="0" y="1754722"/>
                    <a:pt x="0" y="1750336"/>
                  </a:cubicBezTo>
                  <a:lnTo>
                    <a:pt x="0" y="7942"/>
                  </a:lnTo>
                  <a:cubicBezTo>
                    <a:pt x="0" y="3556"/>
                    <a:pt x="3556" y="0"/>
                    <a:pt x="7942" y="0"/>
                  </a:cubicBezTo>
                  <a:close/>
                </a:path>
              </a:pathLst>
            </a:custGeom>
            <a:solidFill>
              <a:srgbClr val="FFFFFF"/>
            </a:solidFill>
          </p:spPr>
        </p:sp>
        <p:sp>
          <p:nvSpPr>
            <p:cNvPr name="TextBox 4" id="4"/>
            <p:cNvSpPr txBox="true"/>
            <p:nvPr/>
          </p:nvSpPr>
          <p:spPr>
            <a:xfrm>
              <a:off x="0" y="-38100"/>
              <a:ext cx="3594157" cy="179637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897696" y="2941342"/>
            <a:ext cx="12492607" cy="6316958"/>
          </a:xfrm>
          <a:prstGeom prst="rect">
            <a:avLst/>
          </a:prstGeom>
        </p:spPr>
        <p:txBody>
          <a:bodyPr anchor="t" rtlCol="false" tIns="0" lIns="0" bIns="0" rIns="0">
            <a:spAutoFit/>
          </a:bodyPr>
          <a:lstStyle/>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A</a:t>
            </a:r>
            <a:r>
              <a:rPr lang="en-US" sz="3267">
                <a:solidFill>
                  <a:srgbClr val="002757"/>
                </a:solidFill>
                <a:latin typeface="Telegraf"/>
                <a:ea typeface="Telegraf"/>
                <a:cs typeface="Telegraf"/>
                <a:sym typeface="Telegraf"/>
              </a:rPr>
              <a:t>poyar la labor del radiólogo, entregando información que facilite la priorización de casos más críticos.</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Contribuir a diagnósticos más oportunos, reduciendo el tiempo entre la toma de imágenes y la interpretación de resultados.</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Aumentar la confianza de los pacientes, al reforzar la revisión de los estudios con apoyo de tecnología.</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Impulsar la innovación en salud, acercando soluciones digitales al ámbito hospitalario.</a:t>
            </a:r>
          </a:p>
          <a:p>
            <a:pPr algn="l" marL="705484" indent="-352742" lvl="1">
              <a:lnSpc>
                <a:spcPts val="4574"/>
              </a:lnSpc>
              <a:spcBef>
                <a:spcPct val="0"/>
              </a:spcBef>
              <a:buFont typeface="Arial"/>
              <a:buChar char="•"/>
            </a:pPr>
            <a:r>
              <a:rPr lang="en-US" sz="3267">
                <a:solidFill>
                  <a:srgbClr val="002757"/>
                </a:solidFill>
                <a:latin typeface="Telegraf"/>
                <a:ea typeface="Telegraf"/>
                <a:cs typeface="Telegraf"/>
                <a:sym typeface="Telegraf"/>
              </a:rPr>
              <a:t>Favorecer la calidad de vida de los pacientes, al promover la detección temprana y las oportunidades de tratamiento.</a:t>
            </a:r>
          </a:p>
        </p:txBody>
      </p:sp>
      <p:sp>
        <p:nvSpPr>
          <p:cNvPr name="TextBox 6" id="6"/>
          <p:cNvSpPr txBox="true"/>
          <p:nvPr/>
        </p:nvSpPr>
        <p:spPr>
          <a:xfrm rot="0">
            <a:off x="4283963" y="1441813"/>
            <a:ext cx="10306806" cy="1085867"/>
          </a:xfrm>
          <a:prstGeom prst="rect">
            <a:avLst/>
          </a:prstGeom>
        </p:spPr>
        <p:txBody>
          <a:bodyPr anchor="t" rtlCol="false" tIns="0" lIns="0" bIns="0" rIns="0">
            <a:spAutoFit/>
          </a:bodyPr>
          <a:lstStyle/>
          <a:p>
            <a:pPr algn="l">
              <a:lnSpc>
                <a:spcPts val="8399"/>
              </a:lnSpc>
              <a:spcBef>
                <a:spcPct val="0"/>
              </a:spcBef>
            </a:pPr>
            <a:r>
              <a:rPr lang="en-US" b="true" sz="5999">
                <a:solidFill>
                  <a:srgbClr val="FFFFFF"/>
                </a:solidFill>
                <a:latin typeface="Telegraf Ultra-Bold"/>
                <a:ea typeface="Telegraf Ultra-Bold"/>
                <a:cs typeface="Telegraf Ultra-Bold"/>
                <a:sym typeface="Telegraf Ultra-Bold"/>
              </a:rPr>
              <a:t>OBJETIVOS ESPECÍFICOS</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false" flipV="false" rot="0">
            <a:off x="14141688" y="2900806"/>
            <a:ext cx="11082787" cy="14772388"/>
          </a:xfrm>
          <a:custGeom>
            <a:avLst/>
            <a:gdLst/>
            <a:ahLst/>
            <a:cxnLst/>
            <a:rect r="r" b="b" t="t" l="l"/>
            <a:pathLst>
              <a:path h="14772388" w="11082787">
                <a:moveTo>
                  <a:pt x="0" y="0"/>
                </a:moveTo>
                <a:lnTo>
                  <a:pt x="11082787" y="0"/>
                </a:lnTo>
                <a:lnTo>
                  <a:pt x="11082787" y="14772388"/>
                </a:lnTo>
                <a:lnTo>
                  <a:pt x="0" y="14772388"/>
                </a:lnTo>
                <a:lnTo>
                  <a:pt x="0" y="0"/>
                </a:lnTo>
                <a:close/>
              </a:path>
            </a:pathLst>
          </a:custGeom>
          <a:blipFill>
            <a:blip r:embed="rId3"/>
            <a:stretch>
              <a:fillRect l="-33291" t="0" r="0" b="0"/>
            </a:stretch>
          </a:blipFill>
        </p:spPr>
      </p:sp>
    </p:spTree>
  </p:cSld>
  <p:clrMapOvr>
    <a:masterClrMapping/>
  </p:clrMapOvr>
  <p:transition spd="med">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625926" y="-104975"/>
            <a:ext cx="10769926" cy="10715444"/>
            <a:chOff x="0" y="0"/>
            <a:chExt cx="2836524" cy="2822174"/>
          </a:xfrm>
        </p:grpSpPr>
        <p:sp>
          <p:nvSpPr>
            <p:cNvPr name="Freeform 3" id="3"/>
            <p:cNvSpPr/>
            <p:nvPr/>
          </p:nvSpPr>
          <p:spPr>
            <a:xfrm flipH="false" flipV="false" rot="0">
              <a:off x="0" y="0"/>
              <a:ext cx="2836524" cy="2822174"/>
            </a:xfrm>
            <a:custGeom>
              <a:avLst/>
              <a:gdLst/>
              <a:ahLst/>
              <a:cxnLst/>
              <a:rect r="r" b="b" t="t" l="l"/>
              <a:pathLst>
                <a:path h="2822174" w="2836524">
                  <a:moveTo>
                    <a:pt x="0" y="0"/>
                  </a:moveTo>
                  <a:lnTo>
                    <a:pt x="2836524" y="0"/>
                  </a:lnTo>
                  <a:lnTo>
                    <a:pt x="2836524" y="2822174"/>
                  </a:lnTo>
                  <a:lnTo>
                    <a:pt x="0" y="2822174"/>
                  </a:lnTo>
                  <a:close/>
                </a:path>
              </a:pathLst>
            </a:custGeom>
            <a:solidFill>
              <a:srgbClr val="FFFFFF"/>
            </a:solidFill>
          </p:spPr>
        </p:sp>
        <p:sp>
          <p:nvSpPr>
            <p:cNvPr name="TextBox 4" id="4"/>
            <p:cNvSpPr txBox="true"/>
            <p:nvPr/>
          </p:nvSpPr>
          <p:spPr>
            <a:xfrm>
              <a:off x="0" y="-38100"/>
              <a:ext cx="2836524"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693901" y="3020970"/>
            <a:ext cx="7756197" cy="6093030"/>
          </a:xfrm>
          <a:prstGeom prst="rect">
            <a:avLst/>
          </a:prstGeom>
        </p:spPr>
        <p:txBody>
          <a:bodyPr anchor="t" rtlCol="false" tIns="0" lIns="0" bIns="0" rIns="0">
            <a:spAutoFit/>
          </a:bodyPr>
          <a:lstStyle/>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S</a:t>
            </a:r>
            <a:r>
              <a:rPr lang="en-US" sz="3116">
                <a:solidFill>
                  <a:srgbClr val="002757"/>
                </a:solidFill>
                <a:latin typeface="Telegraf"/>
                <a:ea typeface="Telegraf"/>
                <a:cs typeface="Telegraf"/>
                <a:sym typeface="Telegraf"/>
              </a:rPr>
              <a:t>imulación de un sistema PACS para la gestión de imágenes médicas.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Integración de un modelo de inteligencia artificial para análisis de tomografías pulmonares.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Generación de predicciones que apoyen la detección temprana de cáncer de pulmón.</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Interfaz básica para visualizar resultados y facilitar la interpretación por parte de especialistas.</a:t>
            </a:r>
          </a:p>
        </p:txBody>
      </p:sp>
      <p:sp>
        <p:nvSpPr>
          <p:cNvPr name="TextBox 7" id="7"/>
          <p:cNvSpPr txBox="true"/>
          <p:nvPr/>
        </p:nvSpPr>
        <p:spPr>
          <a:xfrm rot="0">
            <a:off x="9386029" y="2878095"/>
            <a:ext cx="8404823"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ALCANCE Y LIMITACIONES DEL PROYECTO</a:t>
            </a:r>
          </a:p>
        </p:txBody>
      </p:sp>
      <p:sp>
        <p:nvSpPr>
          <p:cNvPr name="TextBox 8" id="8"/>
          <p:cNvSpPr txBox="true"/>
          <p:nvPr/>
        </p:nvSpPr>
        <p:spPr>
          <a:xfrm rot="0">
            <a:off x="1028700" y="1146260"/>
            <a:ext cx="3543300"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ALCANCE</a:t>
            </a:r>
          </a:p>
        </p:txBody>
      </p:sp>
    </p:spTree>
  </p:cSld>
  <p:clrMapOvr>
    <a:masterClrMapping/>
  </p:clrMapOvr>
  <p:transition spd="med">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9144000" y="-214222"/>
            <a:ext cx="10723024" cy="10715434"/>
            <a:chOff x="0" y="0"/>
            <a:chExt cx="2824226" cy="2822067"/>
          </a:xfrm>
        </p:grpSpPr>
        <p:sp>
          <p:nvSpPr>
            <p:cNvPr name="Freeform 3" id="3"/>
            <p:cNvSpPr/>
            <p:nvPr/>
          </p:nvSpPr>
          <p:spPr>
            <a:xfrm flipH="false" flipV="false" rot="0">
              <a:off x="0" y="0"/>
              <a:ext cx="2824226" cy="2822067"/>
            </a:xfrm>
            <a:custGeom>
              <a:avLst/>
              <a:gdLst/>
              <a:ahLst/>
              <a:cxnLst/>
              <a:rect r="r" b="b" t="t" l="l"/>
              <a:pathLst>
                <a:path h="2822067" w="2824226">
                  <a:moveTo>
                    <a:pt x="2824226" y="0"/>
                  </a:moveTo>
                  <a:lnTo>
                    <a:pt x="2824226" y="2822067"/>
                  </a:lnTo>
                  <a:lnTo>
                    <a:pt x="0" y="2822067"/>
                  </a:lnTo>
                  <a:lnTo>
                    <a:pt x="0" y="0"/>
                  </a:lnTo>
                  <a:close/>
                </a:path>
              </a:pathLst>
            </a:custGeom>
            <a:solidFill>
              <a:srgbClr val="FFFFFF"/>
            </a:solidFill>
          </p:spPr>
        </p:sp>
        <p:sp>
          <p:nvSpPr>
            <p:cNvPr name="TextBox 4" id="4"/>
            <p:cNvSpPr txBox="true"/>
            <p:nvPr/>
          </p:nvSpPr>
          <p:spPr>
            <a:xfrm>
              <a:off x="0" y="-38100"/>
              <a:ext cx="2824226" cy="2860167"/>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0"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TextBox 6" id="6"/>
          <p:cNvSpPr txBox="true"/>
          <p:nvPr/>
        </p:nvSpPr>
        <p:spPr>
          <a:xfrm rot="0">
            <a:off x="9837901" y="3020970"/>
            <a:ext cx="7756197" cy="4988130"/>
          </a:xfrm>
          <a:prstGeom prst="rect">
            <a:avLst/>
          </a:prstGeom>
        </p:spPr>
        <p:txBody>
          <a:bodyPr anchor="t" rtlCol="false" tIns="0" lIns="0" bIns="0" rIns="0">
            <a:spAutoFit/>
          </a:bodyPr>
          <a:lstStyle/>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E</a:t>
            </a:r>
            <a:r>
              <a:rPr lang="en-US" sz="3116">
                <a:solidFill>
                  <a:srgbClr val="002757"/>
                </a:solidFill>
                <a:latin typeface="Telegraf"/>
                <a:ea typeface="Telegraf"/>
                <a:cs typeface="Telegraf"/>
                <a:sym typeface="Telegraf"/>
              </a:rPr>
              <a:t>l sistema se prueba en un entorno simulado, no en un hospital real.</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El modelo de IA está limitado al análisis de cáncer pulmonar, no a otras patologías.</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L</a:t>
            </a:r>
            <a:r>
              <a:rPr lang="en-US" sz="3116">
                <a:solidFill>
                  <a:srgbClr val="002757"/>
                </a:solidFill>
                <a:latin typeface="Telegraf"/>
                <a:ea typeface="Telegraf"/>
                <a:cs typeface="Telegraf"/>
                <a:sym typeface="Telegraf"/>
              </a:rPr>
              <a:t>a precisión depende de la calidad y cantidad de datos disponibles. </a:t>
            </a:r>
          </a:p>
          <a:p>
            <a:pPr algn="l" marL="672942" indent="-336471" lvl="1">
              <a:lnSpc>
                <a:spcPts val="4363"/>
              </a:lnSpc>
              <a:spcBef>
                <a:spcPct val="0"/>
              </a:spcBef>
              <a:buFont typeface="Arial"/>
              <a:buChar char="•"/>
            </a:pPr>
            <a:r>
              <a:rPr lang="en-US" sz="3116">
                <a:solidFill>
                  <a:srgbClr val="002757"/>
                </a:solidFill>
                <a:latin typeface="Telegraf"/>
                <a:ea typeface="Telegraf"/>
                <a:cs typeface="Telegraf"/>
                <a:sym typeface="Telegraf"/>
              </a:rPr>
              <a:t>No re</a:t>
            </a:r>
            <a:r>
              <a:rPr lang="en-US" sz="3116">
                <a:solidFill>
                  <a:srgbClr val="002757"/>
                </a:solidFill>
                <a:latin typeface="Telegraf"/>
                <a:ea typeface="Telegraf"/>
                <a:cs typeface="Telegraf"/>
                <a:sym typeface="Telegraf"/>
              </a:rPr>
              <a:t>emplaza al radiólogo, solo actúa como apoyo en el diagnóstico.</a:t>
            </a:r>
          </a:p>
        </p:txBody>
      </p:sp>
      <p:sp>
        <p:nvSpPr>
          <p:cNvPr name="TextBox 7" id="7"/>
          <p:cNvSpPr txBox="true"/>
          <p:nvPr/>
        </p:nvSpPr>
        <p:spPr>
          <a:xfrm rot="0">
            <a:off x="505974" y="2878095"/>
            <a:ext cx="8404823" cy="4292685"/>
          </a:xfrm>
          <a:prstGeom prst="rect">
            <a:avLst/>
          </a:prstGeom>
        </p:spPr>
        <p:txBody>
          <a:bodyPr anchor="t" rtlCol="false" tIns="0" lIns="0" bIns="0" rIns="0">
            <a:spAutoFit/>
          </a:bodyPr>
          <a:lstStyle/>
          <a:p>
            <a:pPr algn="ctr">
              <a:lnSpc>
                <a:spcPts val="11195"/>
              </a:lnSpc>
              <a:spcBef>
                <a:spcPct val="0"/>
              </a:spcBef>
            </a:pPr>
            <a:r>
              <a:rPr lang="en-US" b="true" sz="7996">
                <a:solidFill>
                  <a:srgbClr val="FFFFFF"/>
                </a:solidFill>
                <a:latin typeface="Telegraf Ultra-Bold"/>
                <a:ea typeface="Telegraf Ultra-Bold"/>
                <a:cs typeface="Telegraf Ultra-Bold"/>
                <a:sym typeface="Telegraf Ultra-Bold"/>
              </a:rPr>
              <a:t>ALCANCE Y LIMITACIONES DEL PROYECTO</a:t>
            </a:r>
          </a:p>
        </p:txBody>
      </p:sp>
      <p:sp>
        <p:nvSpPr>
          <p:cNvPr name="TextBox 8" id="8"/>
          <p:cNvSpPr txBox="true"/>
          <p:nvPr/>
        </p:nvSpPr>
        <p:spPr>
          <a:xfrm rot="0">
            <a:off x="11589789" y="1146260"/>
            <a:ext cx="5669511" cy="1003380"/>
          </a:xfrm>
          <a:prstGeom prst="rect">
            <a:avLst/>
          </a:prstGeom>
        </p:spPr>
        <p:txBody>
          <a:bodyPr anchor="t" rtlCol="false" tIns="0" lIns="0" bIns="0" rIns="0">
            <a:spAutoFit/>
          </a:bodyPr>
          <a:lstStyle/>
          <a:p>
            <a:pPr algn="l">
              <a:lnSpc>
                <a:spcPts val="7695"/>
              </a:lnSpc>
              <a:spcBef>
                <a:spcPct val="0"/>
              </a:spcBef>
            </a:pPr>
            <a:r>
              <a:rPr lang="en-US" b="true" sz="5496">
                <a:solidFill>
                  <a:srgbClr val="002757"/>
                </a:solidFill>
                <a:latin typeface="Telegraf Bold"/>
                <a:ea typeface="Telegraf Bold"/>
                <a:cs typeface="Telegraf Bold"/>
                <a:sym typeface="Telegraf Bold"/>
              </a:rPr>
              <a:t>LIMITACIONES</a:t>
            </a:r>
          </a:p>
        </p:txBody>
      </p:sp>
    </p:spTree>
  </p:cSld>
  <p:clrMapOvr>
    <a:masterClrMapping/>
  </p:clrMapOvr>
  <p:transition spd="med">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638734" y="2499323"/>
            <a:ext cx="15010532" cy="7181092"/>
          </a:xfrm>
          <a:custGeom>
            <a:avLst/>
            <a:gdLst/>
            <a:ahLst/>
            <a:cxnLst/>
            <a:rect r="r" b="b" t="t" l="l"/>
            <a:pathLst>
              <a:path h="7181092" w="15010532">
                <a:moveTo>
                  <a:pt x="0" y="0"/>
                </a:moveTo>
                <a:lnTo>
                  <a:pt x="15010532" y="0"/>
                </a:lnTo>
                <a:lnTo>
                  <a:pt x="15010532" y="7181092"/>
                </a:lnTo>
                <a:lnTo>
                  <a:pt x="0" y="7181092"/>
                </a:lnTo>
                <a:lnTo>
                  <a:pt x="0" y="0"/>
                </a:lnTo>
                <a:close/>
              </a:path>
            </a:pathLst>
          </a:custGeom>
          <a:blipFill>
            <a:blip r:embed="rId3"/>
            <a:stretch>
              <a:fillRect l="-2758" t="-21319" r="-1334" b="-1072"/>
            </a:stretch>
          </a:blipFill>
        </p:spPr>
      </p:sp>
      <p:sp>
        <p:nvSpPr>
          <p:cNvPr name="TextBox 3" id="3"/>
          <p:cNvSpPr txBox="true"/>
          <p:nvPr/>
        </p:nvSpPr>
        <p:spPr>
          <a:xfrm rot="0">
            <a:off x="1430936" y="462961"/>
            <a:ext cx="15426128" cy="2036362"/>
          </a:xfrm>
          <a:prstGeom prst="rect">
            <a:avLst/>
          </a:prstGeom>
        </p:spPr>
        <p:txBody>
          <a:bodyPr anchor="t" rtlCol="false" tIns="0" lIns="0" bIns="0" rIns="0">
            <a:spAutoFit/>
          </a:bodyPr>
          <a:lstStyle/>
          <a:p>
            <a:pPr algn="ctr">
              <a:lnSpc>
                <a:spcPts val="7982"/>
              </a:lnSpc>
              <a:spcBef>
                <a:spcPct val="0"/>
              </a:spcBef>
            </a:pPr>
            <a:r>
              <a:rPr lang="en-US" b="true" sz="5701">
                <a:solidFill>
                  <a:srgbClr val="FFFFFF"/>
                </a:solidFill>
                <a:latin typeface="Telegraf Ultra-Bold"/>
                <a:ea typeface="Telegraf Ultra-Bold"/>
                <a:cs typeface="Telegraf Ultra-Bold"/>
                <a:sym typeface="Telegraf Ultra-Bold"/>
              </a:rPr>
              <a:t>METODOLOGÍA DE TRABAJO PARA EL DESARROLLO DEL PROYECTO</a:t>
            </a:r>
          </a:p>
        </p:txBody>
      </p:sp>
    </p:spTree>
  </p:cSld>
  <p:clrMapOvr>
    <a:masterClrMapping/>
  </p:clrMapOvr>
  <p:transition spd="med">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310211" y="2554504"/>
            <a:ext cx="15667578" cy="6967041"/>
          </a:xfrm>
          <a:custGeom>
            <a:avLst/>
            <a:gdLst/>
            <a:ahLst/>
            <a:cxnLst/>
            <a:rect r="r" b="b" t="t" l="l"/>
            <a:pathLst>
              <a:path h="6967041" w="15667578">
                <a:moveTo>
                  <a:pt x="0" y="0"/>
                </a:moveTo>
                <a:lnTo>
                  <a:pt x="15667578" y="0"/>
                </a:lnTo>
                <a:lnTo>
                  <a:pt x="15667578" y="6967042"/>
                </a:lnTo>
                <a:lnTo>
                  <a:pt x="0" y="6967042"/>
                </a:lnTo>
                <a:lnTo>
                  <a:pt x="0" y="0"/>
                </a:lnTo>
                <a:close/>
              </a:path>
            </a:pathLst>
          </a:custGeom>
          <a:blipFill>
            <a:blip r:embed="rId3"/>
            <a:stretch>
              <a:fillRect l="-6460" t="-21388" r="-986" b="-14527"/>
            </a:stretch>
          </a:blipFill>
        </p:spPr>
      </p:sp>
      <p:sp>
        <p:nvSpPr>
          <p:cNvPr name="TextBox 3" id="3"/>
          <p:cNvSpPr txBox="true"/>
          <p:nvPr/>
        </p:nvSpPr>
        <p:spPr>
          <a:xfrm rot="0">
            <a:off x="1430936" y="518142"/>
            <a:ext cx="15426128" cy="2036362"/>
          </a:xfrm>
          <a:prstGeom prst="rect">
            <a:avLst/>
          </a:prstGeom>
        </p:spPr>
        <p:txBody>
          <a:bodyPr anchor="t" rtlCol="false" tIns="0" lIns="0" bIns="0" rIns="0">
            <a:spAutoFit/>
          </a:bodyPr>
          <a:lstStyle/>
          <a:p>
            <a:pPr algn="ctr">
              <a:lnSpc>
                <a:spcPts val="7982"/>
              </a:lnSpc>
              <a:spcBef>
                <a:spcPct val="0"/>
              </a:spcBef>
            </a:pPr>
            <a:r>
              <a:rPr lang="en-US" b="true" sz="5701">
                <a:solidFill>
                  <a:srgbClr val="FFFFFF"/>
                </a:solidFill>
                <a:latin typeface="Telegraf Ultra-Bold"/>
                <a:ea typeface="Telegraf Ultra-Bold"/>
                <a:cs typeface="Telegraf Ultra-Bold"/>
                <a:sym typeface="Telegraf Ultra-Bold"/>
              </a:rPr>
              <a:t>RELEASE PLAN DEL DESARROLLO DEL PROYECTO</a:t>
            </a:r>
          </a:p>
        </p:txBody>
      </p:sp>
    </p:spTree>
  </p:cSld>
  <p:clrMapOvr>
    <a:masterClrMapping/>
  </p:clrMapOvr>
  <p:transition spd="med">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0" y="0"/>
            <a:ext cx="11066970" cy="10715444"/>
            <a:chOff x="0" y="0"/>
            <a:chExt cx="2914757" cy="2822174"/>
          </a:xfrm>
        </p:grpSpPr>
        <p:sp>
          <p:nvSpPr>
            <p:cNvPr name="Freeform 3" id="3"/>
            <p:cNvSpPr/>
            <p:nvPr/>
          </p:nvSpPr>
          <p:spPr>
            <a:xfrm flipH="false" flipV="false" rot="0">
              <a:off x="0" y="0"/>
              <a:ext cx="2914758" cy="2822174"/>
            </a:xfrm>
            <a:custGeom>
              <a:avLst/>
              <a:gdLst/>
              <a:ahLst/>
              <a:cxnLst/>
              <a:rect r="r" b="b" t="t" l="l"/>
              <a:pathLst>
                <a:path h="2822174" w="2914758">
                  <a:moveTo>
                    <a:pt x="0" y="0"/>
                  </a:moveTo>
                  <a:lnTo>
                    <a:pt x="2914758" y="0"/>
                  </a:lnTo>
                  <a:lnTo>
                    <a:pt x="2914758" y="2822174"/>
                  </a:lnTo>
                  <a:lnTo>
                    <a:pt x="0" y="2822174"/>
                  </a:lnTo>
                  <a:close/>
                </a:path>
              </a:pathLst>
            </a:custGeom>
            <a:solidFill>
              <a:srgbClr val="FFFFFF"/>
            </a:solidFill>
          </p:spPr>
        </p:sp>
        <p:sp>
          <p:nvSpPr>
            <p:cNvPr name="TextBox 4" id="4"/>
            <p:cNvSpPr txBox="true"/>
            <p:nvPr/>
          </p:nvSpPr>
          <p:spPr>
            <a:xfrm>
              <a:off x="0" y="-38100"/>
              <a:ext cx="2914757" cy="286027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6" id="6"/>
          <p:cNvSpPr/>
          <p:nvPr/>
        </p:nvSpPr>
        <p:spPr>
          <a:xfrm flipH="false" flipV="false" rot="0">
            <a:off x="342505" y="240557"/>
            <a:ext cx="10192912" cy="9793190"/>
          </a:xfrm>
          <a:custGeom>
            <a:avLst/>
            <a:gdLst/>
            <a:ahLst/>
            <a:cxnLst/>
            <a:rect r="r" b="b" t="t" l="l"/>
            <a:pathLst>
              <a:path h="9793190" w="10192912">
                <a:moveTo>
                  <a:pt x="0" y="0"/>
                </a:moveTo>
                <a:lnTo>
                  <a:pt x="10192912" y="0"/>
                </a:lnTo>
                <a:lnTo>
                  <a:pt x="10192912" y="9793190"/>
                </a:lnTo>
                <a:lnTo>
                  <a:pt x="0" y="9793190"/>
                </a:lnTo>
                <a:lnTo>
                  <a:pt x="0" y="0"/>
                </a:lnTo>
                <a:close/>
              </a:path>
            </a:pathLst>
          </a:custGeom>
          <a:blipFill>
            <a:blip r:embed="rId3"/>
            <a:stretch>
              <a:fillRect l="0" t="0" r="0" b="0"/>
            </a:stretch>
          </a:blipFill>
        </p:spPr>
      </p:sp>
      <p:sp>
        <p:nvSpPr>
          <p:cNvPr name="TextBox 7" id="7"/>
          <p:cNvSpPr txBox="true"/>
          <p:nvPr/>
        </p:nvSpPr>
        <p:spPr>
          <a:xfrm rot="0">
            <a:off x="10535417" y="3375878"/>
            <a:ext cx="7385567" cy="3344744"/>
          </a:xfrm>
          <a:prstGeom prst="rect">
            <a:avLst/>
          </a:prstGeom>
        </p:spPr>
        <p:txBody>
          <a:bodyPr anchor="t" rtlCol="false" tIns="0" lIns="0" bIns="0" rIns="0">
            <a:spAutoFit/>
          </a:bodyPr>
          <a:lstStyle/>
          <a:p>
            <a:pPr algn="r">
              <a:lnSpc>
                <a:spcPts val="8751"/>
              </a:lnSpc>
              <a:spcBef>
                <a:spcPct val="0"/>
              </a:spcBef>
            </a:pPr>
            <a:r>
              <a:rPr lang="en-US" b="true" sz="6251">
                <a:solidFill>
                  <a:srgbClr val="FFFFFF"/>
                </a:solidFill>
                <a:latin typeface="Telegraf Ultra-Bold"/>
                <a:ea typeface="Telegraf Ultra-Bold"/>
                <a:cs typeface="Telegraf Ultra-Bold"/>
                <a:sym typeface="Telegraf Ultra-Bold"/>
              </a:rPr>
              <a:t>NUESTRA ARQUITECTURA DE SOFTWARE</a:t>
            </a:r>
          </a:p>
        </p:txBody>
      </p:sp>
    </p:spTree>
  </p:cSld>
  <p:clrMapOvr>
    <a:masterClrMapping/>
  </p:clrMapOvr>
  <p:transition spd="med">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7911037" y="0"/>
            <a:ext cx="10486401" cy="10287000"/>
          </a:xfrm>
          <a:custGeom>
            <a:avLst/>
            <a:gdLst/>
            <a:ahLst/>
            <a:cxnLst/>
            <a:rect r="r" b="b" t="t" l="l"/>
            <a:pathLst>
              <a:path h="10287000" w="10486401">
                <a:moveTo>
                  <a:pt x="0" y="0"/>
                </a:moveTo>
                <a:lnTo>
                  <a:pt x="10486400" y="0"/>
                </a:lnTo>
                <a:lnTo>
                  <a:pt x="10486400" y="10287000"/>
                </a:lnTo>
                <a:lnTo>
                  <a:pt x="0" y="10287000"/>
                </a:lnTo>
                <a:lnTo>
                  <a:pt x="0" y="0"/>
                </a:lnTo>
                <a:close/>
              </a:path>
            </a:pathLst>
          </a:custGeom>
          <a:blipFill>
            <a:blip r:embed="rId2"/>
            <a:stretch>
              <a:fillRect l="-4975" t="-1807" r="0" b="-57"/>
            </a:stretch>
          </a:blipFill>
        </p:spPr>
      </p:sp>
      <p:sp>
        <p:nvSpPr>
          <p:cNvPr name="Freeform 3" id="3"/>
          <p:cNvSpPr/>
          <p:nvPr/>
        </p:nvSpPr>
        <p:spPr>
          <a:xfrm flipH="false" flipV="false" rot="0">
            <a:off x="0"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grpSp>
        <p:nvGrpSpPr>
          <p:cNvPr name="Group 4" id="4"/>
          <p:cNvGrpSpPr/>
          <p:nvPr/>
        </p:nvGrpSpPr>
        <p:grpSpPr>
          <a:xfrm rot="0">
            <a:off x="17575379" y="-514350"/>
            <a:ext cx="3086100" cy="30861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6" id="6"/>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028700" y="3963727"/>
            <a:ext cx="6543344" cy="2178572"/>
          </a:xfrm>
          <a:prstGeom prst="rect">
            <a:avLst/>
          </a:prstGeom>
        </p:spPr>
        <p:txBody>
          <a:bodyPr anchor="t" rtlCol="false" tIns="0" lIns="0" bIns="0" rIns="0">
            <a:spAutoFit/>
          </a:bodyPr>
          <a:lstStyle/>
          <a:p>
            <a:pPr algn="l">
              <a:lnSpc>
                <a:spcPts val="8546"/>
              </a:lnSpc>
              <a:spcBef>
                <a:spcPct val="0"/>
              </a:spcBef>
            </a:pPr>
            <a:r>
              <a:rPr lang="en-US" b="true" sz="6104">
                <a:solidFill>
                  <a:srgbClr val="FFFFFF"/>
                </a:solidFill>
                <a:latin typeface="Telegraf Ultra-Bold"/>
                <a:ea typeface="Telegraf Ultra-Bold"/>
                <a:cs typeface="Telegraf Ultra-Bold"/>
                <a:sym typeface="Telegraf Ultra-Bold"/>
              </a:rPr>
              <a:t>MODELO DE DATOS</a:t>
            </a:r>
          </a:p>
        </p:txBody>
      </p:sp>
      <p:grpSp>
        <p:nvGrpSpPr>
          <p:cNvPr name="Group 8" id="8"/>
          <p:cNvGrpSpPr/>
          <p:nvPr/>
        </p:nvGrpSpPr>
        <p:grpSpPr>
          <a:xfrm rot="0">
            <a:off x="17727779" y="-361950"/>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727779" y="7810641"/>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FFFFFF"/>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Tree>
  </p:cSld>
  <p:clrMapOvr>
    <a:masterClrMapping/>
  </p:clrMapOvr>
  <p:transition spd="med">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1028700" y="2376973"/>
            <a:ext cx="16230600" cy="6881327"/>
            <a:chOff x="0" y="0"/>
            <a:chExt cx="4274726" cy="1812366"/>
          </a:xfrm>
        </p:grpSpPr>
        <p:sp>
          <p:nvSpPr>
            <p:cNvPr name="Freeform 3" id="3"/>
            <p:cNvSpPr/>
            <p:nvPr/>
          </p:nvSpPr>
          <p:spPr>
            <a:xfrm flipH="false" flipV="false" rot="0">
              <a:off x="0" y="0"/>
              <a:ext cx="4274726" cy="1812366"/>
            </a:xfrm>
            <a:custGeom>
              <a:avLst/>
              <a:gdLst/>
              <a:ahLst/>
              <a:cxnLst/>
              <a:rect r="r" b="b" t="t" l="l"/>
              <a:pathLst>
                <a:path h="1812366" w="4274726">
                  <a:moveTo>
                    <a:pt x="0" y="0"/>
                  </a:moveTo>
                  <a:lnTo>
                    <a:pt x="4274726" y="0"/>
                  </a:lnTo>
                  <a:lnTo>
                    <a:pt x="4274726" y="1812366"/>
                  </a:lnTo>
                  <a:lnTo>
                    <a:pt x="0" y="1812366"/>
                  </a:lnTo>
                  <a:close/>
                </a:path>
              </a:pathLst>
            </a:custGeom>
            <a:solidFill>
              <a:srgbClr val="FFFFFF"/>
            </a:solidFill>
          </p:spPr>
        </p:sp>
        <p:sp>
          <p:nvSpPr>
            <p:cNvPr name="TextBox 4" id="4"/>
            <p:cNvSpPr txBox="true"/>
            <p:nvPr/>
          </p:nvSpPr>
          <p:spPr>
            <a:xfrm>
              <a:off x="0" y="-38100"/>
              <a:ext cx="4274726" cy="185046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3055452" y="4127119"/>
            <a:ext cx="1133305" cy="1133305"/>
          </a:xfrm>
          <a:custGeom>
            <a:avLst/>
            <a:gdLst/>
            <a:ahLst/>
            <a:cxnLst/>
            <a:rect r="r" b="b" t="t" l="l"/>
            <a:pathLst>
              <a:path h="1133305" w="1133305">
                <a:moveTo>
                  <a:pt x="0" y="0"/>
                </a:moveTo>
                <a:lnTo>
                  <a:pt x="1133305" y="0"/>
                </a:lnTo>
                <a:lnTo>
                  <a:pt x="1133305" y="1133305"/>
                </a:lnTo>
                <a:lnTo>
                  <a:pt x="0" y="1133305"/>
                </a:lnTo>
                <a:lnTo>
                  <a:pt x="0" y="0"/>
                </a:lnTo>
                <a:close/>
              </a:path>
            </a:pathLst>
          </a:custGeom>
          <a:blipFill>
            <a:blip r:embed="rId2"/>
            <a:stretch>
              <a:fillRect l="0" t="0" r="0" b="0"/>
            </a:stretch>
          </a:blipFill>
        </p:spPr>
      </p:sp>
      <p:sp>
        <p:nvSpPr>
          <p:cNvPr name="Freeform 6" id="6"/>
          <p:cNvSpPr/>
          <p:nvPr/>
        </p:nvSpPr>
        <p:spPr>
          <a:xfrm flipH="false" flipV="false" rot="0">
            <a:off x="9144000" y="3942948"/>
            <a:ext cx="1798081" cy="1338164"/>
          </a:xfrm>
          <a:custGeom>
            <a:avLst/>
            <a:gdLst/>
            <a:ahLst/>
            <a:cxnLst/>
            <a:rect r="r" b="b" t="t" l="l"/>
            <a:pathLst>
              <a:path h="1338164" w="1798081">
                <a:moveTo>
                  <a:pt x="0" y="0"/>
                </a:moveTo>
                <a:lnTo>
                  <a:pt x="1798081" y="0"/>
                </a:lnTo>
                <a:lnTo>
                  <a:pt x="1798081" y="1338164"/>
                </a:lnTo>
                <a:lnTo>
                  <a:pt x="0" y="1338164"/>
                </a:lnTo>
                <a:lnTo>
                  <a:pt x="0" y="0"/>
                </a:lnTo>
                <a:close/>
              </a:path>
            </a:pathLst>
          </a:custGeom>
          <a:blipFill>
            <a:blip r:embed="rId3"/>
            <a:stretch>
              <a:fillRect l="-11303" t="0" r="-5526" b="0"/>
            </a:stretch>
          </a:blipFill>
        </p:spPr>
      </p:sp>
      <p:sp>
        <p:nvSpPr>
          <p:cNvPr name="Freeform 7" id="7"/>
          <p:cNvSpPr/>
          <p:nvPr/>
        </p:nvSpPr>
        <p:spPr>
          <a:xfrm flipH="false" flipV="false" rot="0">
            <a:off x="7512750" y="4028284"/>
            <a:ext cx="1252829" cy="1252829"/>
          </a:xfrm>
          <a:custGeom>
            <a:avLst/>
            <a:gdLst/>
            <a:ahLst/>
            <a:cxnLst/>
            <a:rect r="r" b="b" t="t" l="l"/>
            <a:pathLst>
              <a:path h="1252829" w="1252829">
                <a:moveTo>
                  <a:pt x="0" y="0"/>
                </a:moveTo>
                <a:lnTo>
                  <a:pt x="1252828" y="0"/>
                </a:lnTo>
                <a:lnTo>
                  <a:pt x="1252828" y="1252828"/>
                </a:lnTo>
                <a:lnTo>
                  <a:pt x="0" y="1252828"/>
                </a:lnTo>
                <a:lnTo>
                  <a:pt x="0" y="0"/>
                </a:lnTo>
                <a:close/>
              </a:path>
            </a:pathLst>
          </a:custGeom>
          <a:blipFill>
            <a:blip r:embed="rId4"/>
            <a:stretch>
              <a:fillRect l="0" t="0" r="0" b="0"/>
            </a:stretch>
          </a:blipFill>
        </p:spPr>
      </p:sp>
      <p:sp>
        <p:nvSpPr>
          <p:cNvPr name="AutoShape 8" id="8"/>
          <p:cNvSpPr/>
          <p:nvPr/>
        </p:nvSpPr>
        <p:spPr>
          <a:xfrm>
            <a:off x="1028700" y="5817636"/>
            <a:ext cx="16230600" cy="0"/>
          </a:xfrm>
          <a:prstGeom prst="line">
            <a:avLst/>
          </a:prstGeom>
          <a:ln cap="flat" w="142875">
            <a:solidFill>
              <a:srgbClr val="002757"/>
            </a:solidFill>
            <a:prstDash val="solid"/>
            <a:headEnd type="none" len="sm" w="sm"/>
            <a:tailEnd type="none" len="sm" w="sm"/>
          </a:ln>
        </p:spPr>
      </p:sp>
      <p:sp>
        <p:nvSpPr>
          <p:cNvPr name="Freeform 9" id="9"/>
          <p:cNvSpPr/>
          <p:nvPr/>
        </p:nvSpPr>
        <p:spPr>
          <a:xfrm flipH="false" flipV="false" rot="0">
            <a:off x="12471481" y="4086097"/>
            <a:ext cx="4187883" cy="1137202"/>
          </a:xfrm>
          <a:custGeom>
            <a:avLst/>
            <a:gdLst/>
            <a:ahLst/>
            <a:cxnLst/>
            <a:rect r="r" b="b" t="t" l="l"/>
            <a:pathLst>
              <a:path h="1137202" w="4187883">
                <a:moveTo>
                  <a:pt x="0" y="0"/>
                </a:moveTo>
                <a:lnTo>
                  <a:pt x="4187883" y="0"/>
                </a:lnTo>
                <a:lnTo>
                  <a:pt x="4187883" y="1137202"/>
                </a:lnTo>
                <a:lnTo>
                  <a:pt x="0" y="1137202"/>
                </a:lnTo>
                <a:lnTo>
                  <a:pt x="0" y="0"/>
                </a:lnTo>
                <a:close/>
              </a:path>
            </a:pathLst>
          </a:custGeom>
          <a:blipFill>
            <a:blip r:embed="rId5"/>
            <a:stretch>
              <a:fillRect l="0" t="0" r="-9103" b="0"/>
            </a:stretch>
          </a:blipFill>
        </p:spPr>
      </p:sp>
      <p:sp>
        <p:nvSpPr>
          <p:cNvPr name="Freeform 10" id="10"/>
          <p:cNvSpPr/>
          <p:nvPr/>
        </p:nvSpPr>
        <p:spPr>
          <a:xfrm flipH="false" flipV="false" rot="0">
            <a:off x="7268843" y="7681881"/>
            <a:ext cx="2922308" cy="995982"/>
          </a:xfrm>
          <a:custGeom>
            <a:avLst/>
            <a:gdLst/>
            <a:ahLst/>
            <a:cxnLst/>
            <a:rect r="r" b="b" t="t" l="l"/>
            <a:pathLst>
              <a:path h="995982" w="2922308">
                <a:moveTo>
                  <a:pt x="0" y="0"/>
                </a:moveTo>
                <a:lnTo>
                  <a:pt x="2922308" y="0"/>
                </a:lnTo>
                <a:lnTo>
                  <a:pt x="2922308" y="995982"/>
                </a:lnTo>
                <a:lnTo>
                  <a:pt x="0" y="995982"/>
                </a:lnTo>
                <a:lnTo>
                  <a:pt x="0" y="0"/>
                </a:lnTo>
                <a:close/>
              </a:path>
            </a:pathLst>
          </a:custGeom>
          <a:blipFill>
            <a:blip r:embed="rId6"/>
            <a:stretch>
              <a:fillRect l="0" t="0" r="0" b="0"/>
            </a:stretch>
          </a:blipFill>
        </p:spPr>
      </p:sp>
      <p:sp>
        <p:nvSpPr>
          <p:cNvPr name="TextBox 11" id="11"/>
          <p:cNvSpPr txBox="true"/>
          <p:nvPr/>
        </p:nvSpPr>
        <p:spPr>
          <a:xfrm rot="0">
            <a:off x="3622104" y="1146260"/>
            <a:ext cx="12180306" cy="1003300"/>
          </a:xfrm>
          <a:prstGeom prst="rect">
            <a:avLst/>
          </a:prstGeom>
        </p:spPr>
        <p:txBody>
          <a:bodyPr anchor="t" rtlCol="false" tIns="0" lIns="0" bIns="0" rIns="0">
            <a:spAutoFit/>
          </a:bodyPr>
          <a:lstStyle/>
          <a:p>
            <a:pPr algn="l">
              <a:lnSpc>
                <a:spcPts val="7699"/>
              </a:lnSpc>
              <a:spcBef>
                <a:spcPct val="0"/>
              </a:spcBef>
            </a:pPr>
            <a:r>
              <a:rPr lang="en-US" b="true" sz="5499">
                <a:solidFill>
                  <a:srgbClr val="FFFFFF"/>
                </a:solidFill>
                <a:latin typeface="Telegraf Ultra-Bold"/>
                <a:ea typeface="Telegraf Ultra-Bold"/>
                <a:cs typeface="Telegraf Ultra-Bold"/>
                <a:sym typeface="Telegraf Ultra-Bold"/>
              </a:rPr>
              <a:t>TECNOLOGÍAS QUE UTILIZAMOS </a:t>
            </a:r>
          </a:p>
        </p:txBody>
      </p:sp>
      <p:sp>
        <p:nvSpPr>
          <p:cNvPr name="TextBox 12" id="12"/>
          <p:cNvSpPr txBox="true"/>
          <p:nvPr/>
        </p:nvSpPr>
        <p:spPr>
          <a:xfrm rot="0">
            <a:off x="2361912" y="2846715"/>
            <a:ext cx="2520384"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Lenguaje</a:t>
            </a:r>
          </a:p>
        </p:txBody>
      </p:sp>
      <p:sp>
        <p:nvSpPr>
          <p:cNvPr name="TextBox 13" id="13"/>
          <p:cNvSpPr txBox="true"/>
          <p:nvPr/>
        </p:nvSpPr>
        <p:spPr>
          <a:xfrm rot="0">
            <a:off x="7045359" y="2846715"/>
            <a:ext cx="4197282"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Frameworks IA</a:t>
            </a:r>
          </a:p>
        </p:txBody>
      </p:sp>
      <p:sp>
        <p:nvSpPr>
          <p:cNvPr name="TextBox 14" id="14"/>
          <p:cNvSpPr txBox="true"/>
          <p:nvPr/>
        </p:nvSpPr>
        <p:spPr>
          <a:xfrm rot="0">
            <a:off x="13404816" y="2846715"/>
            <a:ext cx="2321213"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Backend </a:t>
            </a:r>
          </a:p>
        </p:txBody>
      </p:sp>
      <p:sp>
        <p:nvSpPr>
          <p:cNvPr name="TextBox 15" id="15"/>
          <p:cNvSpPr txBox="true"/>
          <p:nvPr/>
        </p:nvSpPr>
        <p:spPr>
          <a:xfrm rot="0">
            <a:off x="1734521" y="6584399"/>
            <a:ext cx="3775166"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FRONTEND</a:t>
            </a:r>
          </a:p>
        </p:txBody>
      </p:sp>
      <p:sp>
        <p:nvSpPr>
          <p:cNvPr name="TextBox 16" id="16"/>
          <p:cNvSpPr txBox="true"/>
          <p:nvPr/>
        </p:nvSpPr>
        <p:spPr>
          <a:xfrm rot="0">
            <a:off x="7512750" y="6584399"/>
            <a:ext cx="2993471" cy="716482"/>
          </a:xfrm>
          <a:prstGeom prst="rect">
            <a:avLst/>
          </a:prstGeom>
        </p:spPr>
        <p:txBody>
          <a:bodyPr anchor="t" rtlCol="false" tIns="0" lIns="0" bIns="0" rIns="0">
            <a:spAutoFit/>
          </a:bodyPr>
          <a:lstStyle/>
          <a:p>
            <a:pPr algn="ctr" marL="0" indent="0" lvl="0">
              <a:lnSpc>
                <a:spcPts val="5886"/>
              </a:lnSpc>
              <a:spcBef>
                <a:spcPct val="0"/>
              </a:spcBef>
            </a:pPr>
            <a:r>
              <a:rPr lang="en-US" b="true" sz="4204">
                <a:solidFill>
                  <a:srgbClr val="002757"/>
                </a:solidFill>
                <a:latin typeface="Open Sans Bold"/>
                <a:ea typeface="Open Sans Bold"/>
                <a:cs typeface="Open Sans Bold"/>
                <a:sym typeface="Open Sans Bold"/>
              </a:rPr>
              <a:t>Mensajería</a:t>
            </a:r>
          </a:p>
        </p:txBody>
      </p:sp>
      <p:sp>
        <p:nvSpPr>
          <p:cNvPr name="Freeform 17" id="1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7"/>
            <a:stretch>
              <a:fillRect l="0" t="0" r="0" b="0"/>
            </a:stretch>
          </a:blipFill>
        </p:spPr>
      </p:sp>
      <p:sp>
        <p:nvSpPr>
          <p:cNvPr name="TextBox 18" id="18"/>
          <p:cNvSpPr txBox="true"/>
          <p:nvPr/>
        </p:nvSpPr>
        <p:spPr>
          <a:xfrm rot="0">
            <a:off x="13404816" y="6584399"/>
            <a:ext cx="2162255" cy="712470"/>
          </a:xfrm>
          <a:prstGeom prst="rect">
            <a:avLst/>
          </a:prstGeom>
        </p:spPr>
        <p:txBody>
          <a:bodyPr anchor="t" rtlCol="false" tIns="0" lIns="0" bIns="0" rIns="0">
            <a:spAutoFit/>
          </a:bodyPr>
          <a:lstStyle/>
          <a:p>
            <a:pPr algn="ctr" marL="0" indent="0" lvl="0">
              <a:lnSpc>
                <a:spcPts val="5880"/>
              </a:lnSpc>
              <a:spcBef>
                <a:spcPct val="0"/>
              </a:spcBef>
            </a:pPr>
            <a:r>
              <a:rPr lang="en-US" b="true" sz="4200">
                <a:solidFill>
                  <a:srgbClr val="002757"/>
                </a:solidFill>
                <a:latin typeface="Open Sans Bold"/>
                <a:ea typeface="Open Sans Bold"/>
                <a:cs typeface="Open Sans Bold"/>
                <a:sym typeface="Open Sans Bold"/>
              </a:rPr>
              <a:t>Gestión</a:t>
            </a:r>
          </a:p>
        </p:txBody>
      </p:sp>
      <p:sp>
        <p:nvSpPr>
          <p:cNvPr name="Freeform 19" id="19"/>
          <p:cNvSpPr/>
          <p:nvPr/>
        </p:nvSpPr>
        <p:spPr>
          <a:xfrm flipH="false" flipV="false" rot="0">
            <a:off x="13278688" y="7375035"/>
            <a:ext cx="2414511" cy="1609674"/>
          </a:xfrm>
          <a:custGeom>
            <a:avLst/>
            <a:gdLst/>
            <a:ahLst/>
            <a:cxnLst/>
            <a:rect r="r" b="b" t="t" l="l"/>
            <a:pathLst>
              <a:path h="1609674" w="2414511">
                <a:moveTo>
                  <a:pt x="0" y="0"/>
                </a:moveTo>
                <a:lnTo>
                  <a:pt x="2414511" y="0"/>
                </a:lnTo>
                <a:lnTo>
                  <a:pt x="2414511" y="1609674"/>
                </a:lnTo>
                <a:lnTo>
                  <a:pt x="0" y="1609674"/>
                </a:lnTo>
                <a:lnTo>
                  <a:pt x="0" y="0"/>
                </a:lnTo>
                <a:close/>
              </a:path>
            </a:pathLst>
          </a:custGeom>
          <a:blipFill>
            <a:blip r:embed="rId8"/>
            <a:stretch>
              <a:fillRect l="0" t="0" r="0" b="0"/>
            </a:stretch>
          </a:blipFill>
        </p:spPr>
      </p:sp>
      <p:sp>
        <p:nvSpPr>
          <p:cNvPr name="Freeform 20" id="20"/>
          <p:cNvSpPr/>
          <p:nvPr/>
        </p:nvSpPr>
        <p:spPr>
          <a:xfrm flipH="false" flipV="false" rot="0">
            <a:off x="1352870" y="7458106"/>
            <a:ext cx="4538468" cy="1443533"/>
          </a:xfrm>
          <a:custGeom>
            <a:avLst/>
            <a:gdLst/>
            <a:ahLst/>
            <a:cxnLst/>
            <a:rect r="r" b="b" t="t" l="l"/>
            <a:pathLst>
              <a:path h="1443533" w="4538468">
                <a:moveTo>
                  <a:pt x="0" y="0"/>
                </a:moveTo>
                <a:lnTo>
                  <a:pt x="4538469" y="0"/>
                </a:lnTo>
                <a:lnTo>
                  <a:pt x="4538469" y="1443533"/>
                </a:lnTo>
                <a:lnTo>
                  <a:pt x="0" y="1443533"/>
                </a:lnTo>
                <a:lnTo>
                  <a:pt x="0" y="0"/>
                </a:lnTo>
                <a:close/>
              </a:path>
            </a:pathLst>
          </a:custGeom>
          <a:blipFill>
            <a:blip r:embed="rId9"/>
            <a:stretch>
              <a:fillRect l="0" t="0" r="0" b="0"/>
            </a:stretch>
          </a:blipFill>
        </p:spPr>
      </p:sp>
    </p:spTree>
  </p:cSld>
  <p:clrMapOvr>
    <a:masterClrMapping/>
  </p:clrMapOvr>
  <p:transition spd="med">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4986655" y="0"/>
            <a:ext cx="8314689" cy="10287000"/>
          </a:xfrm>
          <a:custGeom>
            <a:avLst/>
            <a:gdLst/>
            <a:ahLst/>
            <a:cxnLst/>
            <a:rect r="r" b="b" t="t" l="l"/>
            <a:pathLst>
              <a:path h="10287000" w="8314689">
                <a:moveTo>
                  <a:pt x="0" y="0"/>
                </a:moveTo>
                <a:lnTo>
                  <a:pt x="8314690" y="0"/>
                </a:lnTo>
                <a:lnTo>
                  <a:pt x="8314690" y="10287000"/>
                </a:lnTo>
                <a:lnTo>
                  <a:pt x="0" y="10287000"/>
                </a:lnTo>
                <a:lnTo>
                  <a:pt x="0" y="0"/>
                </a:lnTo>
                <a:close/>
              </a:path>
            </a:pathLst>
          </a:custGeom>
          <a:blipFill>
            <a:blip r:embed="rId2"/>
            <a:stretch>
              <a:fillRect l="0" t="-516" r="0" b="-516"/>
            </a:stretch>
          </a:blipFill>
        </p:spPr>
      </p:sp>
      <p:grpSp>
        <p:nvGrpSpPr>
          <p:cNvPr name="Group 3" id="3"/>
          <p:cNvGrpSpPr/>
          <p:nvPr/>
        </p:nvGrpSpPr>
        <p:grpSpPr>
          <a:xfrm rot="0">
            <a:off x="3475406" y="2765942"/>
            <a:ext cx="11337189" cy="4755117"/>
            <a:chOff x="0" y="0"/>
            <a:chExt cx="2985926" cy="1252376"/>
          </a:xfrm>
        </p:grpSpPr>
        <p:sp>
          <p:nvSpPr>
            <p:cNvPr name="Freeform 4" id="4"/>
            <p:cNvSpPr/>
            <p:nvPr/>
          </p:nvSpPr>
          <p:spPr>
            <a:xfrm flipH="false" flipV="false" rot="0">
              <a:off x="0" y="0"/>
              <a:ext cx="2985926" cy="1252376"/>
            </a:xfrm>
            <a:custGeom>
              <a:avLst/>
              <a:gdLst/>
              <a:ahLst/>
              <a:cxnLst/>
              <a:rect r="r" b="b" t="t" l="l"/>
              <a:pathLst>
                <a:path h="1252376" w="2985926">
                  <a:moveTo>
                    <a:pt x="9560" y="0"/>
                  </a:moveTo>
                  <a:lnTo>
                    <a:pt x="2976366" y="0"/>
                  </a:lnTo>
                  <a:cubicBezTo>
                    <a:pt x="2981646" y="0"/>
                    <a:pt x="2985926" y="4280"/>
                    <a:pt x="2985926" y="9560"/>
                  </a:cubicBezTo>
                  <a:lnTo>
                    <a:pt x="2985926" y="1242816"/>
                  </a:lnTo>
                  <a:cubicBezTo>
                    <a:pt x="2985926" y="1248096"/>
                    <a:pt x="2981646" y="1252376"/>
                    <a:pt x="2976366" y="1252376"/>
                  </a:cubicBezTo>
                  <a:lnTo>
                    <a:pt x="9560" y="1252376"/>
                  </a:lnTo>
                  <a:cubicBezTo>
                    <a:pt x="4280" y="1252376"/>
                    <a:pt x="0" y="1248096"/>
                    <a:pt x="0" y="1242816"/>
                  </a:cubicBezTo>
                  <a:lnTo>
                    <a:pt x="0" y="9560"/>
                  </a:lnTo>
                  <a:cubicBezTo>
                    <a:pt x="0" y="4280"/>
                    <a:pt x="4280" y="0"/>
                    <a:pt x="9560" y="0"/>
                  </a:cubicBezTo>
                  <a:close/>
                </a:path>
              </a:pathLst>
            </a:custGeom>
            <a:solidFill>
              <a:srgbClr val="FFFFFF"/>
            </a:solidFill>
          </p:spPr>
        </p:sp>
        <p:sp>
          <p:nvSpPr>
            <p:cNvPr name="TextBox 5" id="5"/>
            <p:cNvSpPr txBox="true"/>
            <p:nvPr/>
          </p:nvSpPr>
          <p:spPr>
            <a:xfrm>
              <a:off x="0" y="-38100"/>
              <a:ext cx="2985926" cy="129047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293006" y="3226927"/>
            <a:ext cx="11701988" cy="3537871"/>
          </a:xfrm>
          <a:prstGeom prst="rect">
            <a:avLst/>
          </a:prstGeom>
        </p:spPr>
        <p:txBody>
          <a:bodyPr anchor="t" rtlCol="false" tIns="0" lIns="0" bIns="0" rIns="0">
            <a:spAutoFit/>
          </a:bodyPr>
          <a:lstStyle/>
          <a:p>
            <a:pPr algn="ctr">
              <a:lnSpc>
                <a:spcPts val="13833"/>
              </a:lnSpc>
              <a:spcBef>
                <a:spcPct val="0"/>
              </a:spcBef>
            </a:pPr>
            <a:r>
              <a:rPr lang="en-US" b="true" sz="9881">
                <a:solidFill>
                  <a:srgbClr val="002757"/>
                </a:solidFill>
                <a:latin typeface="Telegraf Bold"/>
                <a:ea typeface="Telegraf Bold"/>
                <a:cs typeface="Telegraf Bold"/>
                <a:sym typeface="Telegraf Bold"/>
              </a:rPr>
              <a:t>DEMOSTRACIÓN DEL PROYECTO </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3"/>
            <a:stretch>
              <a:fillRect l="0" t="0" r="0" b="0"/>
            </a:stretch>
          </a:blipFill>
        </p:spPr>
      </p:sp>
    </p:spTree>
  </p:cSld>
  <p:clrMapOvr>
    <a:masterClrMapping/>
  </p:clrMapOvr>
  <p:transition spd="med">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sp>
        <p:nvSpPr>
          <p:cNvPr name="Freeform 2" id="2"/>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grpSp>
        <p:nvGrpSpPr>
          <p:cNvPr name="Group 3" id="3"/>
          <p:cNvGrpSpPr/>
          <p:nvPr/>
        </p:nvGrpSpPr>
        <p:grpSpPr>
          <a:xfrm rot="0">
            <a:off x="0" y="0"/>
            <a:ext cx="9144000" cy="10634083"/>
            <a:chOff x="0" y="0"/>
            <a:chExt cx="2408296" cy="2800746"/>
          </a:xfrm>
        </p:grpSpPr>
        <p:sp>
          <p:nvSpPr>
            <p:cNvPr name="Freeform 4" id="4"/>
            <p:cNvSpPr/>
            <p:nvPr/>
          </p:nvSpPr>
          <p:spPr>
            <a:xfrm flipH="false" flipV="false" rot="0">
              <a:off x="0" y="0"/>
              <a:ext cx="2408296" cy="2800746"/>
            </a:xfrm>
            <a:custGeom>
              <a:avLst/>
              <a:gdLst/>
              <a:ahLst/>
              <a:cxnLst/>
              <a:rect r="r" b="b" t="t" l="l"/>
              <a:pathLst>
                <a:path h="2800746" w="2408296">
                  <a:moveTo>
                    <a:pt x="0" y="0"/>
                  </a:moveTo>
                  <a:lnTo>
                    <a:pt x="2408296" y="0"/>
                  </a:lnTo>
                  <a:lnTo>
                    <a:pt x="2408296" y="2800746"/>
                  </a:lnTo>
                  <a:lnTo>
                    <a:pt x="0" y="2800746"/>
                  </a:lnTo>
                  <a:close/>
                </a:path>
              </a:pathLst>
            </a:custGeom>
            <a:solidFill>
              <a:srgbClr val="FFFFFF"/>
            </a:solidFill>
          </p:spPr>
        </p:sp>
        <p:sp>
          <p:nvSpPr>
            <p:cNvPr name="TextBox 5" id="5"/>
            <p:cNvSpPr txBox="true"/>
            <p:nvPr/>
          </p:nvSpPr>
          <p:spPr>
            <a:xfrm>
              <a:off x="0" y="-38100"/>
              <a:ext cx="2408296" cy="283884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1478987" y="5317042"/>
            <a:ext cx="4597900" cy="4770843"/>
          </a:xfrm>
          <a:custGeom>
            <a:avLst/>
            <a:gdLst/>
            <a:ahLst/>
            <a:cxnLst/>
            <a:rect r="r" b="b" t="t" l="l"/>
            <a:pathLst>
              <a:path h="4770843" w="4597900">
                <a:moveTo>
                  <a:pt x="0" y="0"/>
                </a:moveTo>
                <a:lnTo>
                  <a:pt x="4597901" y="0"/>
                </a:lnTo>
                <a:lnTo>
                  <a:pt x="4597901" y="4770843"/>
                </a:lnTo>
                <a:lnTo>
                  <a:pt x="0" y="4770843"/>
                </a:lnTo>
                <a:lnTo>
                  <a:pt x="0" y="0"/>
                </a:lnTo>
                <a:close/>
              </a:path>
            </a:pathLst>
          </a:custGeom>
          <a:blipFill>
            <a:blip r:embed="rId3"/>
            <a:stretch>
              <a:fillRect l="0" t="0" r="0" b="0"/>
            </a:stretch>
          </a:blipFill>
        </p:spPr>
      </p:sp>
      <p:sp>
        <p:nvSpPr>
          <p:cNvPr name="TextBox 7" id="7"/>
          <p:cNvSpPr txBox="true"/>
          <p:nvPr/>
        </p:nvSpPr>
        <p:spPr>
          <a:xfrm rot="0">
            <a:off x="10296575" y="2765812"/>
            <a:ext cx="6962725" cy="2694638"/>
          </a:xfrm>
          <a:prstGeom prst="rect">
            <a:avLst/>
          </a:prstGeom>
        </p:spPr>
        <p:txBody>
          <a:bodyPr anchor="t" rtlCol="false" tIns="0" lIns="0" bIns="0" rIns="0">
            <a:spAutoFit/>
          </a:bodyPr>
          <a:lstStyle/>
          <a:p>
            <a:pPr algn="r">
              <a:lnSpc>
                <a:spcPts val="10551"/>
              </a:lnSpc>
              <a:spcBef>
                <a:spcPct val="0"/>
              </a:spcBef>
            </a:pPr>
            <a:r>
              <a:rPr lang="en-US" b="true" sz="7536">
                <a:solidFill>
                  <a:srgbClr val="FFFFFF"/>
                </a:solidFill>
                <a:latin typeface="Telegraf Ultra-Bold"/>
                <a:ea typeface="Telegraf Ultra-Bold"/>
                <a:cs typeface="Telegraf Ultra-Bold"/>
                <a:sym typeface="Telegraf Ultra-Bold"/>
              </a:rPr>
              <a:t>RESULTADOS OBTENIDOS</a:t>
            </a:r>
          </a:p>
        </p:txBody>
      </p:sp>
      <p:sp>
        <p:nvSpPr>
          <p:cNvPr name="TextBox 8" id="8"/>
          <p:cNvSpPr txBox="true"/>
          <p:nvPr/>
        </p:nvSpPr>
        <p:spPr>
          <a:xfrm rot="0">
            <a:off x="1249137" y="698979"/>
            <a:ext cx="5652734" cy="9024474"/>
          </a:xfrm>
          <a:prstGeom prst="rect">
            <a:avLst/>
          </a:prstGeom>
        </p:spPr>
        <p:txBody>
          <a:bodyPr anchor="t" rtlCol="false" tIns="0" lIns="0" bIns="0" rIns="0">
            <a:spAutoFit/>
          </a:bodyPr>
          <a:lstStyle/>
          <a:p>
            <a:pPr algn="l">
              <a:lnSpc>
                <a:spcPts val="3949"/>
              </a:lnSpc>
            </a:pPr>
            <a:r>
              <a:rPr lang="en-US" sz="2821">
                <a:solidFill>
                  <a:srgbClr val="002757"/>
                </a:solidFill>
                <a:latin typeface="Telegraf"/>
                <a:ea typeface="Telegraf"/>
                <a:cs typeface="Telegraf"/>
                <a:sym typeface="Telegraf"/>
              </a:rPr>
              <a:t>El modelo logró un máximo nivel de precisión muy alto (0.79</a:t>
            </a:r>
          </a:p>
          <a:p>
            <a:pPr algn="l">
              <a:lnSpc>
                <a:spcPts val="3949"/>
              </a:lnSpc>
            </a:pPr>
            <a:r>
              <a:rPr lang="en-US" sz="2821">
                <a:solidFill>
                  <a:srgbClr val="002757"/>
                </a:solidFill>
                <a:latin typeface="Telegraf"/>
                <a:ea typeface="Telegraf"/>
                <a:cs typeface="Telegraf"/>
                <a:sym typeface="Telegraf"/>
              </a:rPr>
              <a:t>Dice), demostrando que es capaz de identificar nódulos pulmonares con alta exactitud.</a:t>
            </a:r>
          </a:p>
          <a:p>
            <a:pPr algn="l">
              <a:lnSpc>
                <a:spcPts val="3949"/>
              </a:lnSpc>
            </a:pPr>
          </a:p>
          <a:p>
            <a:pPr algn="l">
              <a:lnSpc>
                <a:spcPts val="3949"/>
              </a:lnSpc>
            </a:pPr>
            <a:r>
              <a:rPr lang="en-US" sz="2821">
                <a:solidFill>
                  <a:srgbClr val="002757"/>
                </a:solidFill>
                <a:latin typeface="Telegraf"/>
                <a:ea typeface="Telegraf"/>
                <a:cs typeface="Telegraf"/>
                <a:sym typeface="Telegraf"/>
              </a:rPr>
              <a:t>La variación entre el mejor y el último valor sugiere que se requieren más datos o regularización adicional para estabilizar el rendimiento.</a:t>
            </a:r>
          </a:p>
          <a:p>
            <a:pPr algn="l">
              <a:lnSpc>
                <a:spcPts val="3949"/>
              </a:lnSpc>
            </a:pPr>
          </a:p>
          <a:p>
            <a:pPr algn="l">
              <a:lnSpc>
                <a:spcPts val="3949"/>
              </a:lnSpc>
              <a:spcBef>
                <a:spcPct val="0"/>
              </a:spcBef>
            </a:pPr>
            <a:r>
              <a:rPr lang="en-US" sz="2821">
                <a:solidFill>
                  <a:srgbClr val="002757"/>
                </a:solidFill>
                <a:latin typeface="Telegraf"/>
                <a:ea typeface="Telegraf"/>
                <a:cs typeface="Telegraf"/>
                <a:sym typeface="Telegraf"/>
              </a:rPr>
              <a:t>Aun así, el modelo es funcional y suficientemente robusto para integrarlo en la arquitectura PACS-AI Assist y probarlo dentro del flujo OHIF → Backend → Worker IA.</a:t>
            </a:r>
          </a:p>
        </p:txBody>
      </p:sp>
    </p:spTree>
  </p:cSld>
  <p:clrMapOvr>
    <a:masterClrMapping/>
  </p:clrMapOvr>
  <p:transition spd="med">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2152E">
                <a:alpha val="100000"/>
              </a:srgbClr>
            </a:gs>
            <a:gs pos="100000">
              <a:srgbClr val="002757">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0">
            <a:off x="2410786" y="3369093"/>
            <a:ext cx="13466428" cy="6029913"/>
            <a:chOff x="0" y="0"/>
            <a:chExt cx="3546713" cy="1588125"/>
          </a:xfrm>
        </p:grpSpPr>
        <p:sp>
          <p:nvSpPr>
            <p:cNvPr name="Freeform 3" id="3"/>
            <p:cNvSpPr/>
            <p:nvPr/>
          </p:nvSpPr>
          <p:spPr>
            <a:xfrm flipH="false" flipV="false" rot="0">
              <a:off x="0" y="0"/>
              <a:ext cx="3546713" cy="1588125"/>
            </a:xfrm>
            <a:custGeom>
              <a:avLst/>
              <a:gdLst/>
              <a:ahLst/>
              <a:cxnLst/>
              <a:rect r="r" b="b" t="t" l="l"/>
              <a:pathLst>
                <a:path h="1588125" w="3546713">
                  <a:moveTo>
                    <a:pt x="8049" y="0"/>
                  </a:moveTo>
                  <a:lnTo>
                    <a:pt x="3538665" y="0"/>
                  </a:lnTo>
                  <a:cubicBezTo>
                    <a:pt x="3540799" y="0"/>
                    <a:pt x="3542847" y="848"/>
                    <a:pt x="3544356" y="2357"/>
                  </a:cubicBezTo>
                  <a:cubicBezTo>
                    <a:pt x="3545865" y="3867"/>
                    <a:pt x="3546713" y="5914"/>
                    <a:pt x="3546713" y="8049"/>
                  </a:cubicBezTo>
                  <a:lnTo>
                    <a:pt x="3546713" y="1580077"/>
                  </a:lnTo>
                  <a:cubicBezTo>
                    <a:pt x="3546713" y="1582211"/>
                    <a:pt x="3545865" y="1584258"/>
                    <a:pt x="3544356" y="1585768"/>
                  </a:cubicBezTo>
                  <a:cubicBezTo>
                    <a:pt x="3542847" y="1587277"/>
                    <a:pt x="3540799" y="1588125"/>
                    <a:pt x="3538665" y="1588125"/>
                  </a:cubicBezTo>
                  <a:lnTo>
                    <a:pt x="8049" y="1588125"/>
                  </a:lnTo>
                  <a:cubicBezTo>
                    <a:pt x="5914" y="1588125"/>
                    <a:pt x="3867" y="1587277"/>
                    <a:pt x="2357" y="1585768"/>
                  </a:cubicBezTo>
                  <a:cubicBezTo>
                    <a:pt x="848" y="1584258"/>
                    <a:pt x="0" y="1582211"/>
                    <a:pt x="0" y="1580077"/>
                  </a:cubicBezTo>
                  <a:lnTo>
                    <a:pt x="0" y="8049"/>
                  </a:lnTo>
                  <a:cubicBezTo>
                    <a:pt x="0" y="5914"/>
                    <a:pt x="848" y="3867"/>
                    <a:pt x="2357" y="2357"/>
                  </a:cubicBezTo>
                  <a:cubicBezTo>
                    <a:pt x="3867" y="848"/>
                    <a:pt x="5914" y="0"/>
                    <a:pt x="8049" y="0"/>
                  </a:cubicBezTo>
                  <a:close/>
                </a:path>
              </a:pathLst>
            </a:custGeom>
            <a:solidFill>
              <a:srgbClr val="FFFFFF"/>
            </a:solidFill>
          </p:spPr>
        </p:sp>
        <p:sp>
          <p:nvSpPr>
            <p:cNvPr name="TextBox 4" id="4"/>
            <p:cNvSpPr txBox="true"/>
            <p:nvPr/>
          </p:nvSpPr>
          <p:spPr>
            <a:xfrm>
              <a:off x="0" y="-38100"/>
              <a:ext cx="3546713" cy="1626225"/>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654746" y="3674447"/>
            <a:ext cx="12978509" cy="5354878"/>
          </a:xfrm>
          <a:prstGeom prst="rect">
            <a:avLst/>
          </a:prstGeom>
        </p:spPr>
        <p:txBody>
          <a:bodyPr anchor="t" rtlCol="false" tIns="0" lIns="0" bIns="0" rIns="0">
            <a:spAutoFit/>
          </a:bodyPr>
          <a:lstStyle/>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Integr</a:t>
            </a:r>
            <a:r>
              <a:rPr lang="en-US" b="true" sz="2553">
                <a:solidFill>
                  <a:srgbClr val="002757"/>
                </a:solidFill>
                <a:latin typeface="Open Sans Bold"/>
                <a:ea typeface="Open Sans Bold"/>
                <a:cs typeface="Open Sans Bold"/>
                <a:sym typeface="Open Sans Bold"/>
              </a:rPr>
              <a:t>ación con PACS y DICOM: </a:t>
            </a:r>
            <a:r>
              <a:rPr lang="en-US" sz="2553">
                <a:solidFill>
                  <a:srgbClr val="002757"/>
                </a:solidFill>
                <a:latin typeface="Open Sans"/>
                <a:ea typeface="Open Sans"/>
                <a:cs typeface="Open Sans"/>
                <a:sym typeface="Open Sans"/>
              </a:rPr>
              <a:t>La conexión entre Orthanc, el backend y el visor OHIF presentó diferencias de formatos y rutas, lo que obligó a iterar varias veces la arquitectura.</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Procesamiento de datos médicos: </a:t>
            </a:r>
            <a:r>
              <a:rPr lang="en-US" sz="2553">
                <a:solidFill>
                  <a:srgbClr val="002757"/>
                </a:solidFill>
                <a:latin typeface="Open Sans"/>
                <a:ea typeface="Open Sans"/>
                <a:cs typeface="Open Sans"/>
                <a:sym typeface="Open Sans"/>
              </a:rPr>
              <a:t>Los estudios LIDC-IDRI incluían variaciones en las máscaras y XML, generando inconsistencias que impactaban la creación de segmentaciones.</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Rendimiento del modelo IA: </a:t>
            </a:r>
            <a:r>
              <a:rPr lang="en-US" sz="2553">
                <a:solidFill>
                  <a:srgbClr val="002757"/>
                </a:solidFill>
                <a:latin typeface="Open Sans"/>
                <a:ea typeface="Open Sans"/>
                <a:cs typeface="Open Sans"/>
                <a:sym typeface="Open Sans"/>
              </a:rPr>
              <a:t>El ent</a:t>
            </a:r>
            <a:r>
              <a:rPr lang="en-US" sz="2553">
                <a:solidFill>
                  <a:srgbClr val="002757"/>
                </a:solidFill>
                <a:latin typeface="Open Sans"/>
                <a:ea typeface="Open Sans"/>
                <a:cs typeface="Open Sans"/>
                <a:sym typeface="Open Sans"/>
              </a:rPr>
              <a:t>renamiento y reentrenamiento del modelo exigió ajustes por temas de</a:t>
            </a:r>
            <a:r>
              <a:rPr lang="en-US" sz="2553">
                <a:solidFill>
                  <a:srgbClr val="002757"/>
                </a:solidFill>
                <a:latin typeface="Open Sans"/>
                <a:ea typeface="Open Sans"/>
                <a:cs typeface="Open Sans"/>
                <a:sym typeface="Open Sans"/>
              </a:rPr>
              <a:t> memoria, tiempo de ejecución y pérdida de precisión en algunos casos.</a:t>
            </a:r>
          </a:p>
          <a:p>
            <a:pPr algn="l" marL="551199" indent="-275600" lvl="1">
              <a:lnSpc>
                <a:spcPts val="3574"/>
              </a:lnSpc>
              <a:buFont typeface="Arial"/>
              <a:buChar char="•"/>
            </a:pPr>
            <a:r>
              <a:rPr lang="en-US" b="true" sz="2553">
                <a:solidFill>
                  <a:srgbClr val="002757"/>
                </a:solidFill>
                <a:latin typeface="Open Sans Bold"/>
                <a:ea typeface="Open Sans Bold"/>
                <a:cs typeface="Open Sans Bold"/>
                <a:sym typeface="Open Sans Bold"/>
              </a:rPr>
              <a:t>Despliegue multiplataforma: </a:t>
            </a:r>
            <a:r>
              <a:rPr lang="en-US" sz="2553">
                <a:solidFill>
                  <a:srgbClr val="002757"/>
                </a:solidFill>
                <a:latin typeface="Open Sans"/>
                <a:ea typeface="Open Sans"/>
                <a:cs typeface="Open Sans"/>
                <a:sym typeface="Open Sans"/>
              </a:rPr>
              <a:t>Al mover el proyecto entre distintos PCs, surgieron incompatibilidades de rutas, instalación de librerías y configuración de Nginx/Orthanc.</a:t>
            </a:r>
          </a:p>
        </p:txBody>
      </p:sp>
      <p:sp>
        <p:nvSpPr>
          <p:cNvPr name="TextBox 6" id="6"/>
          <p:cNvSpPr txBox="true"/>
          <p:nvPr/>
        </p:nvSpPr>
        <p:spPr>
          <a:xfrm rot="0">
            <a:off x="2410786" y="1127210"/>
            <a:ext cx="13466428" cy="2241882"/>
          </a:xfrm>
          <a:prstGeom prst="rect">
            <a:avLst/>
          </a:prstGeom>
        </p:spPr>
        <p:txBody>
          <a:bodyPr anchor="t" rtlCol="false" tIns="0" lIns="0" bIns="0" rIns="0">
            <a:spAutoFit/>
          </a:bodyPr>
          <a:lstStyle/>
          <a:p>
            <a:pPr algn="ctr">
              <a:lnSpc>
                <a:spcPts val="8731"/>
              </a:lnSpc>
              <a:spcBef>
                <a:spcPct val="0"/>
              </a:spcBef>
            </a:pPr>
            <a:r>
              <a:rPr lang="en-US" b="true" sz="6236">
                <a:solidFill>
                  <a:srgbClr val="FFFFFF"/>
                </a:solidFill>
                <a:latin typeface="Telegraf Ultra-Bold"/>
                <a:ea typeface="Telegraf Ultra-Bold"/>
                <a:cs typeface="Telegraf Ultra-Bold"/>
                <a:sym typeface="Telegraf Ultra-Bold"/>
              </a:rPr>
              <a:t>OBSTÁCULOS PRESENTADOS DURANTE EL DESARROLLO</a:t>
            </a:r>
          </a:p>
        </p:txBody>
      </p:sp>
      <p:sp>
        <p:nvSpPr>
          <p:cNvPr name="Freeform 7" id="7"/>
          <p:cNvSpPr/>
          <p:nvPr/>
        </p:nvSpPr>
        <p:spPr>
          <a:xfrm flipH="false" flipV="false" rot="0">
            <a:off x="14664296" y="0"/>
            <a:ext cx="3623704" cy="1317710"/>
          </a:xfrm>
          <a:custGeom>
            <a:avLst/>
            <a:gdLst/>
            <a:ahLst/>
            <a:cxnLst/>
            <a:rect r="r" b="b" t="t" l="l"/>
            <a:pathLst>
              <a:path h="1317710" w="3623704">
                <a:moveTo>
                  <a:pt x="0" y="0"/>
                </a:moveTo>
                <a:lnTo>
                  <a:pt x="3623704" y="0"/>
                </a:lnTo>
                <a:lnTo>
                  <a:pt x="3623704" y="1317710"/>
                </a:lnTo>
                <a:lnTo>
                  <a:pt x="0" y="1317710"/>
                </a:lnTo>
                <a:lnTo>
                  <a:pt x="0" y="0"/>
                </a:lnTo>
                <a:close/>
              </a:path>
            </a:pathLst>
          </a:custGeom>
          <a:blipFill>
            <a:blip r:embed="rId2"/>
            <a:stretch>
              <a:fillRect l="0" t="0" r="0" b="0"/>
            </a:stretch>
          </a:blipFill>
        </p:spPr>
      </p:sp>
      <p:sp>
        <p:nvSpPr>
          <p:cNvPr name="Freeform 8" id="8"/>
          <p:cNvSpPr/>
          <p:nvPr/>
        </p:nvSpPr>
        <p:spPr>
          <a:xfrm flipH="true" flipV="false" rot="0">
            <a:off x="13530448" y="4408521"/>
            <a:ext cx="13044014" cy="6331623"/>
          </a:xfrm>
          <a:custGeom>
            <a:avLst/>
            <a:gdLst/>
            <a:ahLst/>
            <a:cxnLst/>
            <a:rect r="r" b="b" t="t" l="l"/>
            <a:pathLst>
              <a:path h="6331623" w="13044014">
                <a:moveTo>
                  <a:pt x="13044015" y="0"/>
                </a:moveTo>
                <a:lnTo>
                  <a:pt x="0" y="0"/>
                </a:lnTo>
                <a:lnTo>
                  <a:pt x="0" y="6331623"/>
                </a:lnTo>
                <a:lnTo>
                  <a:pt x="13044015" y="6331623"/>
                </a:lnTo>
                <a:lnTo>
                  <a:pt x="13044015" y="0"/>
                </a:lnTo>
                <a:close/>
              </a:path>
            </a:pathLst>
          </a:custGeom>
          <a:blipFill>
            <a:blip r:embed="rId3"/>
            <a:stretch>
              <a:fillRect l="0" t="-62470" r="-40202" b="0"/>
            </a:stretch>
          </a:blipFill>
        </p:spPr>
      </p:sp>
    </p:spTree>
  </p:cSld>
  <p:clrMapOvr>
    <a:masterClrMapping/>
  </p:clrMapOvr>
  <p:transition spd="med">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pic>
        <p:nvPicPr>
          <p:cNvPr name="Picture 2" id="2" descr="video">
            <a:hlinkClick action="ppaction://media"/>
          </p:cNvPr>
          <p:cNvPicPr>
            <a:picLocks noChangeAspect="true"/>
          </p:cNvPicPr>
          <p:nvPr>
            <a:videoFile r:link="rId3"/>
            <p:extLst>
              <p:ext uri="{DAA4B4D4-6D71-4841-9C94-3DE7FCFB9230}">
                <p14:media xmlns:p14="http://schemas.microsoft.com/office/powerpoint/2010/main" r:embed="rId4">
                  <p14:trim st="0.0000" end="0.0010"/>
                </p14:media>
              </p:ext>
            </p:extLst>
          </p:nvPr>
        </p:nvPicPr>
        <p:blipFill>
          <a:blip r:embed="rId2"/>
          <a:srcRect l="0" t="0" r="0" b="0"/>
          <a:stretch>
            <a:fillRect/>
          </a:stretch>
        </p:blipFill>
        <p:spPr>
          <a:xfrm flipH="false" flipV="false" rot="0">
            <a:off x="0" y="0"/>
            <a:ext cx="18288000" cy="10287000"/>
          </a:xfrm>
          <a:prstGeom prst="rect">
            <a:avLst/>
          </a:prstGeom>
        </p:spPr>
      </p:pic>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1961"/>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3511197"/>
            <a:ext cx="16256118" cy="3026481"/>
          </a:xfrm>
          <a:prstGeom prst="rect">
            <a:avLst/>
          </a:prstGeom>
        </p:spPr>
        <p:txBody>
          <a:bodyPr anchor="t" rtlCol="false" tIns="0" lIns="0" bIns="0" rIns="0">
            <a:spAutoFit/>
          </a:bodyPr>
          <a:lstStyle/>
          <a:p>
            <a:pPr algn="l">
              <a:lnSpc>
                <a:spcPts val="11228"/>
              </a:lnSpc>
            </a:pPr>
            <a:r>
              <a:rPr lang="en-US" sz="8020" b="true">
                <a:solidFill>
                  <a:srgbClr val="FFFFFF"/>
                </a:solidFill>
                <a:latin typeface="Telegraf Heavy"/>
                <a:ea typeface="Telegraf Heavy"/>
                <a:cs typeface="Telegraf Heavy"/>
                <a:sym typeface="Telegraf Heavy"/>
              </a:rPr>
              <a:t>PREGUNTAS DE LA COMISIÓN</a:t>
            </a:r>
          </a:p>
        </p:txBody>
      </p:sp>
      <p:sp>
        <p:nvSpPr>
          <p:cNvPr name="Freeform 7" id="7"/>
          <p:cNvSpPr/>
          <p:nvPr/>
        </p:nvSpPr>
        <p:spPr>
          <a:xfrm flipH="false" flipV="false" rot="0">
            <a:off x="13834558" y="0"/>
            <a:ext cx="4453442" cy="1619433"/>
          </a:xfrm>
          <a:custGeom>
            <a:avLst/>
            <a:gdLst/>
            <a:ahLst/>
            <a:cxnLst/>
            <a:rect r="r" b="b" t="t" l="l"/>
            <a:pathLst>
              <a:path h="1619433" w="4453442">
                <a:moveTo>
                  <a:pt x="0" y="0"/>
                </a:moveTo>
                <a:lnTo>
                  <a:pt x="4453442" y="0"/>
                </a:lnTo>
                <a:lnTo>
                  <a:pt x="4453442" y="1619433"/>
                </a:lnTo>
                <a:lnTo>
                  <a:pt x="0" y="1619433"/>
                </a:lnTo>
                <a:lnTo>
                  <a:pt x="0" y="0"/>
                </a:lnTo>
                <a:close/>
              </a:path>
            </a:pathLst>
          </a:custGeom>
          <a:blipFill>
            <a:blip r:embed="rId5"/>
            <a:stretch>
              <a:fillRect l="0" t="0" r="0" b="0"/>
            </a:stretch>
          </a:blipFill>
        </p:spPr>
      </p:sp>
    </p:spTree>
  </p:cSld>
  <p:clrMapOvr>
    <a:masterClrMapping/>
  </p:clrMapOvr>
  <p:transition spd="med">
    <p:fade/>
  </p:transition>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DAG6S2iqhzo</dc:identifier>
  <dcterms:modified xsi:type="dcterms:W3CDTF">2011-08-01T06:04:30Z</dcterms:modified>
  <cp:revision>1</cp:revision>
  <dc:title>PRESENTACIÓN FINAL DE CAPSTONE</dc:title>
</cp:coreProperties>
</file>